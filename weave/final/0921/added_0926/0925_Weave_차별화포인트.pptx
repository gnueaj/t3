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왜 삼성인가 — 서드파티의 한계를 넘는 시스템 레벨의 통합 경험. ① 독보적인 앱 생태계: 특정 플랫폼 앱은 자사 서비스 내부의 데이터만 볼 수 있지만, 삼성은 갤러리·삼성노트·캘린더처럼 기록이 쌓이는 기본 앱과 이를 다시 꺼내 쓰는 삼성 키보드를 하나의 제품 경험으로 설계할 수 있습니다. ② 크로스 앱 데이터 융합: 앱 사이의 벽을 허물고 디바이스 전체에 흩어진 단서를 하나의 실처럼 엮어, 사용자가 별도의 앱을 켜지 않고도 매일 쓰는 키보드 안에서 필요한 기억을 바로 활용하게 합니다. ③ 완전한 온디바이스 보안: Personal Data Engine 기반으로 개인 데이터를 기기 안에서만 처리하고, KEEP·Knox Vault와 연계해 기록이 외부 서버로 나가지 않도록 보호합니다.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왜 지금인가 — 기기 안에서 기록을 이해하고 실제 사용으로 연결할 온디바이스 AI 인프라가 갖춰지고 있습니다. 갤러리·삼성노트·캘린더에 남은 기록을, 온디바이스 API(Android AICore), 모바일용 경량 LLM(Gemini Nano, Llama), 그리고 AI 연산 특화 하드웨어인 NPU가 기기 안에서 이해하고, Weave가 이를 찾아 지금의 입력에 연결합니다. Weave는 기록을 더 많이 저장하는 것보다, 이미 남아 있는 기록을 필요한 순간 꺼내 쓰는 과정에 집중합니다.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경쟁 서비스 비교 — Samsung Writing Assist는 입력 중인 문장을 생성·교정하는 도구, Now Nudge는 상황을 인지해 정보를 안내하는 서비스, Kanana는 카카오톡이라는 단일 앱 안에서 동작합니다. Weave는 갤러리·삼성노트·캘린더·문자 등 기기 전체에 흩어진 기록을 연결하고, 컨텍스트를 기반으로 앱을 넘나들며 연쇄 탐색하고, 데이터를 온디바이스로 처리하며, 입력창에 진입하는 순간 연관 맥락을 키보드에 먼저 띄운다는 점에서 차별화됩니다.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기대효과 01 — 하루 평균 59분을 여러 앱에 흩어진 정보를 찾는 데 쓰고 있습니다. Weave는 어느 앱에 기록했는지 찾고, 오래된 대화와 갤러리를 넘기던 과정을 줄이고, 키보드에서 필요한 내용을 제안받아 여러 앱의 기록을 한 번에 찾게 합니다. 핵심 가치: 찾는 시간 단축, 앱 전환 감소, 대화와 업무의 흐름 유지.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기대효과 02 — 사용자의 33%가 언젠가 필요할까봐 캡처나 메모를 해두지만 한 번도 열어보지 않습니다. Weave와 함께라면 엄마가 먹고 싶다던 무화과시루, 친구가 좋아하는 소비뇽 블랑이 필요한 순간에 떠오릅니다. 갤럭시는 저장 도구를 넘어 놓쳤던 기억까지 챙겨주는 일상의 조력자가 됩니다. 핵심 가치: 잊었던 약속의 재발견, 디테일이 만드는 감동, 브랜드 친밀감 증가.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기대효과 03 — 스마트폰 사용자는 월평균 41개의 앱을 쓰고, 69%는 기기 내 데이터를 지우지 않고 그대로 씁니다. Weave는 쌓아둔 대화·사진·메모를 오늘의 검색과 답장에 쓰이는 자산으로 바꾸고, 사용자는 내 기록을 잘 활용해 주는 갤럭시의 가치를 경험합니다. 핵심 가치: 기록의 자산화, 개인화 경험 강화, 갤럭시 지속 사용 및 Lock-in 효과.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DFCFF"/>
        </a:solidFill>
      </p:bgPr>
    </p:bg>
    <p:spTree>
      <p:nvGrpSpPr>
        <p:cNvPr id="1" name=""/>
        <p:cNvGrpSpPr/>
        <p:nvPr/>
      </p:nvGrpSpPr>
      <p:grpSpPr>
        <a:xfrm>
          <a:off x="0" y="0"/>
          <a:ext cx="0" cy="0"/>
          <a:chOff x="0" y="0"/>
          <a:chExt cx="0" cy="0"/>
        </a:xfrm>
      </p:grpSpPr>
      <p:sp>
        <p:nvSpPr>
          <p:cNvPr id="2" name="Shape 0"/>
          <p:cNvSpPr/>
          <p:nvPr/>
        </p:nvSpPr>
        <p:spPr>
          <a:xfrm>
            <a:off x="0" y="0"/>
            <a:ext cx="12191986" cy="6857943"/>
          </a:xfrm>
          <a:prstGeom prst="rect">
            <a:avLst/>
          </a:prstGeom>
          <a:gradFill rotWithShape="1">
            <a:gsLst>
              <a:gs pos="0">
                <a:srgbClr val="FDFCFF"/>
              </a:gs>
              <a:gs pos="50000">
                <a:srgbClr val="F8F5FF"/>
              </a:gs>
              <a:gs pos="100000">
                <a:srgbClr val="F2EDFF"/>
              </a:gs>
            </a:gsLst>
            <a:lin ang="4200000" scaled="0"/>
          </a:gradFill>
          <a:ln/>
        </p:spPr>
      </p:sp>
      <p:sp>
        <p:nvSpPr>
          <p:cNvPr id="3" name="Shape 1"/>
          <p:cNvSpPr/>
          <p:nvPr/>
        </p:nvSpPr>
        <p:spPr>
          <a:xfrm>
            <a:off x="6095957" y="0"/>
            <a:ext cx="6095957" cy="4825957"/>
          </a:xfrm>
          <a:prstGeom prst="rect">
            <a:avLst/>
          </a:prstGeom>
          <a:gradFill rotWithShape="1">
            <a:gsLst>
              <a:gs pos="0">
                <a:srgbClr val="FFE282">
                  <a:alpha val="42000"/>
                </a:srgbClr>
              </a:gs>
              <a:gs pos="30000">
                <a:srgbClr val="FFEEB9">
                  <a:alpha val="18000"/>
                </a:srgbClr>
              </a:gs>
              <a:gs pos="60000">
                <a:srgbClr val="FFFAEB">
                  <a:alpha val="0"/>
                </a:srgbClr>
              </a:gs>
            </a:gsLst>
            <a:path path="circle">
              <a:fillToRect l="85000" t="8000" r="15000" b="92000"/>
            </a:path>
          </a:gradFill>
          <a:ln/>
        </p:spPr>
      </p:sp>
      <p:sp>
        <p:nvSpPr>
          <p:cNvPr id="4" name="Shape 2"/>
          <p:cNvSpPr/>
          <p:nvPr/>
        </p:nvSpPr>
        <p:spPr>
          <a:xfrm>
            <a:off x="0" y="3555957"/>
            <a:ext cx="5715000" cy="3301986"/>
          </a:xfrm>
          <a:prstGeom prst="rect">
            <a:avLst/>
          </a:prstGeom>
          <a:gradFill rotWithShape="1">
            <a:gsLst>
              <a:gs pos="0">
                <a:srgbClr val="BAA6FF">
                  <a:alpha val="34000"/>
                </a:srgbClr>
              </a:gs>
              <a:gs pos="40000">
                <a:srgbClr val="DCD0FF">
                  <a:alpha val="16000"/>
                </a:srgbClr>
              </a:gs>
              <a:gs pos="72000">
                <a:srgbClr val="F8F5FF">
                  <a:alpha val="0"/>
                </a:srgbClr>
              </a:gs>
            </a:gsLst>
            <a:path path="circle">
              <a:fillToRect l="12000" t="88000" r="88000" b="12000"/>
            </a:path>
          </a:gradFill>
          <a:ln/>
        </p:spPr>
      </p:sp>
      <p:sp>
        <p:nvSpPr>
          <p:cNvPr id="5" name="Text 3"/>
          <p:cNvSpPr/>
          <p:nvPr/>
        </p:nvSpPr>
        <p:spPr>
          <a:xfrm>
            <a:off x="5299221" y="457191"/>
            <a:ext cx="1593545" cy="223481"/>
          </a:xfrm>
          <a:prstGeom prst="rect">
            <a:avLst/>
          </a:prstGeom>
          <a:noFill/>
          <a:ln/>
        </p:spPr>
        <p:txBody>
          <a:bodyPr wrap="square" lIns="0" tIns="0" rIns="0" bIns="0" rtlCol="0" anchor="t">
            <a:normAutofit/>
          </a:bodyPr>
          <a:lstStyle/>
          <a:p>
            <a:pPr algn="ctr" indent="0" marL="0">
              <a:lnSpc>
                <a:spcPts val="1560"/>
              </a:lnSpc>
              <a:buNone/>
            </a:pPr>
            <a:r>
              <a:rPr lang="en-US" sz="1200" b="1" spc="50" kern="0" dirty="0">
                <a:solidFill>
                  <a:srgbClr val="6B4EFF"/>
                </a:solidFill>
                <a:latin typeface="Noto Sans KR" pitchFamily="34" charset="0"/>
                <a:ea typeface="Noto Sans KR" pitchFamily="34" charset="-122"/>
                <a:cs typeface="Noto Sans KR" pitchFamily="34" charset="-120"/>
              </a:rPr>
              <a:t>08 / WHY SAMSUNG</a:t>
            </a:r>
            <a:endParaRPr lang="en-US" sz="1200" dirty="0"/>
          </a:p>
        </p:txBody>
      </p:sp>
      <p:sp>
        <p:nvSpPr>
          <p:cNvPr id="6" name="Text 4"/>
          <p:cNvSpPr/>
          <p:nvPr/>
        </p:nvSpPr>
        <p:spPr>
          <a:xfrm>
            <a:off x="3266764" y="744141"/>
            <a:ext cx="5658459" cy="467387"/>
          </a:xfrm>
          <a:prstGeom prst="rect">
            <a:avLst/>
          </a:prstGeom>
          <a:noFill/>
          <a:ln/>
        </p:spPr>
        <p:txBody>
          <a:bodyPr wrap="square" lIns="0" tIns="0" rIns="0" bIns="0" rtlCol="0" anchor="t">
            <a:normAutofit/>
          </a:bodyPr>
          <a:lstStyle/>
          <a:p>
            <a:pPr algn="ctr" indent="0" marL="0">
              <a:lnSpc>
                <a:spcPts val="3480"/>
              </a:lnSpc>
              <a:buNone/>
            </a:pPr>
            <a:r>
              <a:rPr lang="en-US" sz="2900" b="1" spc="-50" kern="0" dirty="0">
                <a:solidFill>
                  <a:srgbClr val="1C1A24"/>
                </a:solidFill>
                <a:latin typeface="Noto Sans KR" pitchFamily="34" charset="0"/>
                <a:ea typeface="Noto Sans KR" pitchFamily="34" charset="-122"/>
                <a:cs typeface="Noto Sans KR" pitchFamily="34" charset="-120"/>
              </a:rPr>
              <a:t>기록은 </a:t>
            </a:r>
            <a:r>
              <a:rPr lang="en-US" sz="2900" b="1" spc="-50" kern="0" dirty="0">
                <a:solidFill>
                  <a:srgbClr val="6B4EFF"/>
                </a:solidFill>
                <a:latin typeface="Noto Sans KR" pitchFamily="34" charset="0"/>
                <a:ea typeface="Noto Sans KR" pitchFamily="34" charset="-122"/>
                <a:cs typeface="Noto Sans KR" pitchFamily="34" charset="-120"/>
              </a:rPr>
              <a:t>자유롭게</a:t>
            </a:r>
            <a:r>
              <a:rPr lang="en-US" sz="2900" b="1" spc="-50" kern="0" dirty="0">
                <a:solidFill>
                  <a:srgbClr val="1C1A24"/>
                </a:solidFill>
                <a:latin typeface="Noto Sans KR" pitchFamily="34" charset="0"/>
                <a:ea typeface="Noto Sans KR" pitchFamily="34" charset="-122"/>
                <a:cs typeface="Noto Sans KR" pitchFamily="34" charset="-120"/>
              </a:rPr>
              <a:t>, 기억은 </a:t>
            </a:r>
            <a:r>
              <a:rPr lang="en-US" sz="2900" b="1" spc="-50" kern="0" dirty="0">
                <a:solidFill>
                  <a:srgbClr val="6B4EFF"/>
                </a:solidFill>
                <a:latin typeface="Noto Sans KR" pitchFamily="34" charset="0"/>
                <a:ea typeface="Noto Sans KR" pitchFamily="34" charset="-122"/>
                <a:cs typeface="Noto Sans KR" pitchFamily="34" charset="-120"/>
              </a:rPr>
              <a:t>단 한 곳</a:t>
            </a:r>
            <a:r>
              <a:rPr lang="en-US" sz="2900" b="1" spc="-50" kern="0" dirty="0">
                <a:solidFill>
                  <a:srgbClr val="1C1A24"/>
                </a:solidFill>
                <a:latin typeface="Noto Sans KR" pitchFamily="34" charset="0"/>
                <a:ea typeface="Noto Sans KR" pitchFamily="34" charset="-122"/>
                <a:cs typeface="Noto Sans KR" pitchFamily="34" charset="-120"/>
              </a:rPr>
              <a:t>에서</a:t>
            </a:r>
            <a:endParaRPr lang="en-US" sz="2900" dirty="0"/>
          </a:p>
        </p:txBody>
      </p:sp>
      <p:sp>
        <p:nvSpPr>
          <p:cNvPr id="7" name="Text 5"/>
          <p:cNvSpPr/>
          <p:nvPr/>
        </p:nvSpPr>
        <p:spPr>
          <a:xfrm>
            <a:off x="4260705" y="1274997"/>
            <a:ext cx="3670576" cy="274303"/>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5B5866"/>
                </a:solidFill>
                <a:latin typeface="Noto Sans KR" pitchFamily="34" charset="0"/>
                <a:ea typeface="Noto Sans KR" pitchFamily="34" charset="-122"/>
                <a:cs typeface="Noto Sans KR" pitchFamily="34" charset="-120"/>
              </a:rPr>
              <a:t>서드파티의 한계를 넘는, 시스템 레벨의 통합 경험</a:t>
            </a:r>
            <a:endParaRPr lang="en-US" sz="1400" dirty="0"/>
          </a:p>
        </p:txBody>
      </p:sp>
      <p:pic>
        <p:nvPicPr>
          <p:cNvPr id="8" name="Image 0" descr="갤러리, 노트, 캘린더 앱이 있는 휴대폰">    </p:cNvPr>
          <p:cNvPicPr>
            <a:picLocks noChangeAspect="1"/>
          </p:cNvPicPr>
          <p:nvPr/>
        </p:nvPicPr>
        <p:blipFill>
          <a:blip r:embed="rId1"/>
          <a:srcRect l="0" r="0" t="-1" b="-1"/>
          <a:stretch/>
        </p:blipFill>
        <p:spPr>
          <a:xfrm>
            <a:off x="1384209" y="1777872"/>
            <a:ext cx="1650957" cy="1905000"/>
          </a:xfrm>
          <a:prstGeom prst="rect">
            <a:avLst/>
          </a:prstGeom>
        </p:spPr>
      </p:pic>
      <p:sp>
        <p:nvSpPr>
          <p:cNvPr id="9" name="Text 6"/>
          <p:cNvSpPr/>
          <p:nvPr/>
        </p:nvSpPr>
        <p:spPr>
          <a:xfrm>
            <a:off x="1046021" y="3771740"/>
            <a:ext cx="2327333" cy="311136"/>
          </a:xfrm>
          <a:prstGeom prst="rect">
            <a:avLst/>
          </a:prstGeom>
          <a:noFill/>
          <a:ln/>
        </p:spPr>
        <p:txBody>
          <a:bodyPr wrap="square" lIns="0" tIns="0" rIns="0" bIns="0" rtlCol="0" anchor="t">
            <a:normAutofit/>
          </a:bodyPr>
          <a:lstStyle/>
          <a:p>
            <a:pPr algn="ctr" indent="0" marL="0">
              <a:lnSpc>
                <a:spcPts val="2250"/>
              </a:lnSpc>
              <a:buNone/>
            </a:pPr>
            <a:r>
              <a:rPr lang="en-US" sz="1800" b="1" dirty="0">
                <a:solidFill>
                  <a:srgbClr val="1C1A24"/>
                </a:solidFill>
                <a:latin typeface="Noto Sans KR" pitchFamily="34" charset="0"/>
                <a:ea typeface="Noto Sans KR" pitchFamily="34" charset="-122"/>
                <a:cs typeface="Noto Sans KR" pitchFamily="34" charset="-120"/>
              </a:rPr>
              <a:t>일상의 기록이 쌓이는 앱</a:t>
            </a:r>
            <a:endParaRPr lang="en-US" sz="1800" dirty="0"/>
          </a:p>
        </p:txBody>
      </p:sp>
      <p:sp>
        <p:nvSpPr>
          <p:cNvPr id="10" name="Text 7"/>
          <p:cNvSpPr/>
          <p:nvPr/>
        </p:nvSpPr>
        <p:spPr>
          <a:xfrm>
            <a:off x="1329227" y="4146345"/>
            <a:ext cx="1760921" cy="238756"/>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A6474"/>
                </a:solidFill>
                <a:latin typeface="Noto Sans KR" pitchFamily="34" charset="0"/>
                <a:ea typeface="Noto Sans KR" pitchFamily="34" charset="-122"/>
                <a:cs typeface="Noto Sans KR" pitchFamily="34" charset="-120"/>
              </a:rPr>
              <a:t>갤러리 · 삼성노트 · 캘린더</a:t>
            </a:r>
            <a:endParaRPr lang="en-US" sz="1200" dirty="0"/>
          </a:p>
        </p:txBody>
      </p:sp>
      <p:sp>
        <p:nvSpPr>
          <p:cNvPr id="11" name="Text 8"/>
          <p:cNvSpPr/>
          <p:nvPr/>
        </p:nvSpPr>
        <p:spPr>
          <a:xfrm>
            <a:off x="3994876" y="2865566"/>
            <a:ext cx="276362" cy="431769"/>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8B6BFF"/>
                </a:solidFill>
                <a:latin typeface="Noto Sans KR" pitchFamily="34" charset="0"/>
                <a:ea typeface="Noto Sans KR" pitchFamily="34" charset="-122"/>
                <a:cs typeface="Noto Sans KR" pitchFamily="34" charset="-120"/>
              </a:rPr>
              <a:t>+</a:t>
            </a:r>
            <a:endParaRPr lang="en-US" sz="3200" dirty="0"/>
          </a:p>
        </p:txBody>
      </p:sp>
      <p:pic>
        <p:nvPicPr>
          <p:cNvPr id="12" name="Image 1" descr="삼성 키보드">    </p:cNvPr>
          <p:cNvPicPr>
            <a:picLocks noChangeAspect="1"/>
          </p:cNvPicPr>
          <p:nvPr/>
        </p:nvPicPr>
        <p:blipFill>
          <a:blip r:embed="rId2"/>
          <a:srcRect l="0" r="0" t="0" b="0"/>
          <a:stretch/>
        </p:blipFill>
        <p:spPr>
          <a:xfrm>
            <a:off x="4989561" y="1777872"/>
            <a:ext cx="2031986" cy="1905000"/>
          </a:xfrm>
          <a:prstGeom prst="rect">
            <a:avLst/>
          </a:prstGeom>
        </p:spPr>
      </p:pic>
      <p:sp>
        <p:nvSpPr>
          <p:cNvPr id="13" name="Text 9"/>
          <p:cNvSpPr/>
          <p:nvPr/>
        </p:nvSpPr>
        <p:spPr>
          <a:xfrm>
            <a:off x="4950258" y="3771740"/>
            <a:ext cx="2110664" cy="311136"/>
          </a:xfrm>
          <a:prstGeom prst="rect">
            <a:avLst/>
          </a:prstGeom>
          <a:noFill/>
          <a:ln/>
        </p:spPr>
        <p:txBody>
          <a:bodyPr wrap="square" lIns="0" tIns="0" rIns="0" bIns="0" rtlCol="0" anchor="t">
            <a:normAutofit/>
          </a:bodyPr>
          <a:lstStyle/>
          <a:p>
            <a:pPr algn="ctr" indent="0" marL="0">
              <a:lnSpc>
                <a:spcPts val="2250"/>
              </a:lnSpc>
              <a:buNone/>
            </a:pPr>
            <a:r>
              <a:rPr lang="en-US" sz="1800" b="1" dirty="0">
                <a:solidFill>
                  <a:srgbClr val="1C1A24"/>
                </a:solidFill>
                <a:latin typeface="Noto Sans KR" pitchFamily="34" charset="0"/>
                <a:ea typeface="Noto Sans KR" pitchFamily="34" charset="-122"/>
                <a:cs typeface="Noto Sans KR" pitchFamily="34" charset="-120"/>
              </a:rPr>
              <a:t>꺼내 쓰는 삼성 키보드</a:t>
            </a:r>
            <a:endParaRPr lang="en-US" sz="1800" dirty="0"/>
          </a:p>
        </p:txBody>
      </p:sp>
      <p:sp>
        <p:nvSpPr>
          <p:cNvPr id="14" name="Text 10"/>
          <p:cNvSpPr/>
          <p:nvPr/>
        </p:nvSpPr>
        <p:spPr>
          <a:xfrm>
            <a:off x="5368103" y="4146345"/>
            <a:ext cx="1274902" cy="238756"/>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A6474"/>
                </a:solidFill>
                <a:latin typeface="Noto Sans KR" pitchFamily="34" charset="0"/>
                <a:ea typeface="Noto Sans KR" pitchFamily="34" charset="-122"/>
                <a:cs typeface="Noto Sans KR" pitchFamily="34" charset="-120"/>
              </a:rPr>
              <a:t>매일 쓰는 입력 화면</a:t>
            </a:r>
            <a:endParaRPr lang="en-US" sz="1200" dirty="0"/>
          </a:p>
        </p:txBody>
      </p:sp>
      <p:sp>
        <p:nvSpPr>
          <p:cNvPr id="15" name="Text 11"/>
          <p:cNvSpPr/>
          <p:nvPr/>
        </p:nvSpPr>
        <p:spPr>
          <a:xfrm>
            <a:off x="7790671" y="2865566"/>
            <a:ext cx="457240" cy="431769"/>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8B6BFF"/>
                </a:solidFill>
                <a:latin typeface="Noto Sans KR" pitchFamily="34" charset="0"/>
                <a:ea typeface="Noto Sans KR" pitchFamily="34" charset="-122"/>
                <a:cs typeface="Noto Sans KR" pitchFamily="34" charset="-120"/>
              </a:rPr>
              <a:t>→</a:t>
            </a:r>
            <a:endParaRPr lang="en-US" sz="3200" dirty="0"/>
          </a:p>
        </p:txBody>
      </p:sp>
      <p:pic>
        <p:nvPicPr>
          <p:cNvPr id="16" name="Image 2" descr="앱 기록들이 실처럼 이어져 키보드로 모이는 휴대폰">    </p:cNvPr>
          <p:cNvPicPr>
            <a:picLocks noChangeAspect="1"/>
          </p:cNvPicPr>
          <p:nvPr/>
        </p:nvPicPr>
        <p:blipFill>
          <a:blip r:embed="rId3"/>
          <a:srcRect l="0" r="0" t="-1" b="-1"/>
          <a:stretch/>
        </p:blipFill>
        <p:spPr>
          <a:xfrm>
            <a:off x="9156749" y="1777872"/>
            <a:ext cx="1650957" cy="1905000"/>
          </a:xfrm>
          <a:prstGeom prst="rect">
            <a:avLst/>
          </a:prstGeom>
        </p:spPr>
      </p:pic>
      <p:sp>
        <p:nvSpPr>
          <p:cNvPr id="17" name="Text 12"/>
          <p:cNvSpPr/>
          <p:nvPr/>
        </p:nvSpPr>
        <p:spPr>
          <a:xfrm>
            <a:off x="8845469" y="3771740"/>
            <a:ext cx="2273588" cy="311136"/>
          </a:xfrm>
          <a:prstGeom prst="rect">
            <a:avLst/>
          </a:prstGeom>
          <a:noFill/>
          <a:ln/>
        </p:spPr>
        <p:txBody>
          <a:bodyPr wrap="square" lIns="0" tIns="0" rIns="0" bIns="0" rtlCol="0" anchor="t">
            <a:normAutofit/>
          </a:bodyPr>
          <a:lstStyle/>
          <a:p>
            <a:pPr algn="ctr" indent="0" marL="0">
              <a:lnSpc>
                <a:spcPts val="2250"/>
              </a:lnSpc>
              <a:buNone/>
            </a:pPr>
            <a:r>
              <a:rPr lang="en-US" sz="1800" b="1" dirty="0">
                <a:solidFill>
                  <a:srgbClr val="1C1A24"/>
                </a:solidFill>
                <a:latin typeface="Noto Sans KR" pitchFamily="34" charset="0"/>
                <a:ea typeface="Noto Sans KR" pitchFamily="34" charset="-122"/>
                <a:cs typeface="Noto Sans KR" pitchFamily="34" charset="-120"/>
              </a:rPr>
              <a:t>시스템 레벨에서 하나로</a:t>
            </a:r>
            <a:endParaRPr lang="en-US" sz="1800" dirty="0"/>
          </a:p>
        </p:txBody>
      </p:sp>
      <p:sp>
        <p:nvSpPr>
          <p:cNvPr id="18" name="Text 13"/>
          <p:cNvSpPr/>
          <p:nvPr/>
        </p:nvSpPr>
        <p:spPr>
          <a:xfrm>
            <a:off x="9006040" y="4146345"/>
            <a:ext cx="1952445" cy="238756"/>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A6474"/>
                </a:solidFill>
                <a:latin typeface="Noto Sans KR" pitchFamily="34" charset="0"/>
                <a:ea typeface="Noto Sans KR" pitchFamily="34" charset="-122"/>
                <a:cs typeface="Noto Sans KR" pitchFamily="34" charset="-120"/>
              </a:rPr>
              <a:t>앱을 켜지 않고, 바로 꺼내 쓰기</a:t>
            </a:r>
            <a:endParaRPr lang="en-US" sz="1200" dirty="0"/>
          </a:p>
        </p:txBody>
      </p:sp>
      <p:sp>
        <p:nvSpPr>
          <p:cNvPr id="19" name="Shape 14"/>
          <p:cNvSpPr/>
          <p:nvPr/>
        </p:nvSpPr>
        <p:spPr>
          <a:xfrm>
            <a:off x="815912" y="4616847"/>
            <a:ext cx="10560162" cy="1317043"/>
          </a:xfrm>
          <a:prstGeom prst="roundRect">
            <a:avLst>
              <a:gd name="adj" fmla="val 13259"/>
            </a:avLst>
          </a:prstGeom>
          <a:solidFill>
            <a:srgbClr val="FFFFFF">
              <a:alpha val="90000"/>
            </a:srgbClr>
          </a:solidFill>
          <a:ln w="6350">
            <a:solidFill>
              <a:srgbClr val="E4DDF7"/>
            </a:solidFill>
            <a:prstDash val="solid"/>
          </a:ln>
          <a:effectLst>
            <a:outerShdw sx="100000" sy="100000" kx="0" ky="0" algn="bl" rotWithShape="0" blurRad="317500" dist="127000" dir="5400000">
              <a:srgbClr val="6B4EFF">
                <a:alpha val="8000"/>
              </a:srgbClr>
            </a:outerShdw>
          </a:effectLst>
        </p:spPr>
      </p:sp>
      <p:sp>
        <p:nvSpPr>
          <p:cNvPr id="20" name="Shape 15"/>
          <p:cNvSpPr/>
          <p:nvPr/>
        </p:nvSpPr>
        <p:spPr>
          <a:xfrm>
            <a:off x="1122100" y="5008620"/>
            <a:ext cx="533354" cy="533354"/>
          </a:xfrm>
          <a:prstGeom prst="roundRect">
            <a:avLst>
              <a:gd name="adj" fmla="val 26193"/>
            </a:avLst>
          </a:prstGeom>
          <a:solidFill>
            <a:srgbClr val="F1ECFF"/>
          </a:solidFill>
          <a:ln/>
        </p:spPr>
      </p:sp>
      <p:pic>
        <p:nvPicPr>
          <p:cNvPr id="21" name="Image 3" descr="Users">    </p:cNvPr>
          <p:cNvPicPr>
            <a:picLocks noChangeAspect="1"/>
          </p:cNvPicPr>
          <p:nvPr/>
        </p:nvPicPr>
        <p:blipFill>
          <a:blip r:embed="rId4"/>
          <a:srcRect l="0" r="0" t="0" b="0"/>
          <a:stretch/>
        </p:blipFill>
        <p:spPr>
          <a:xfrm>
            <a:off x="1249086" y="5135606"/>
            <a:ext cx="279383" cy="279383"/>
          </a:xfrm>
          <a:prstGeom prst="rect">
            <a:avLst/>
          </a:prstGeom>
        </p:spPr>
      </p:pic>
      <p:sp>
        <p:nvSpPr>
          <p:cNvPr id="22" name="Text 16"/>
          <p:cNvSpPr/>
          <p:nvPr/>
        </p:nvSpPr>
        <p:spPr>
          <a:xfrm>
            <a:off x="1807851" y="4902620"/>
            <a:ext cx="646755" cy="306068"/>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C1A24"/>
                </a:solidFill>
                <a:latin typeface="Noto Sans KR" pitchFamily="34" charset="0"/>
                <a:ea typeface="Noto Sans KR" pitchFamily="34" charset="-122"/>
                <a:cs typeface="Noto Sans KR" pitchFamily="34" charset="-120"/>
              </a:rPr>
              <a:t>개인화</a:t>
            </a:r>
            <a:endParaRPr lang="en-US" sz="1700" dirty="0"/>
          </a:p>
        </p:txBody>
      </p:sp>
      <p:sp>
        <p:nvSpPr>
          <p:cNvPr id="23" name="Text 17"/>
          <p:cNvSpPr/>
          <p:nvPr/>
        </p:nvSpPr>
        <p:spPr>
          <a:xfrm>
            <a:off x="2492675" y="4957440"/>
            <a:ext cx="1718389" cy="239969"/>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6B4EFF"/>
                </a:solidFill>
                <a:latin typeface="Noto Sans KR" pitchFamily="34" charset="0"/>
                <a:ea typeface="Noto Sans KR" pitchFamily="34" charset="-122"/>
                <a:cs typeface="Noto Sans KR" pitchFamily="34" charset="-120"/>
              </a:rPr>
              <a:t>Personal Data Engine</a:t>
            </a:r>
            <a:endParaRPr lang="en-US" sz="1300" dirty="0"/>
          </a:p>
        </p:txBody>
      </p:sp>
      <p:sp>
        <p:nvSpPr>
          <p:cNvPr id="24" name="Text 18"/>
          <p:cNvSpPr/>
          <p:nvPr/>
        </p:nvSpPr>
        <p:spPr>
          <a:xfrm>
            <a:off x="1807851" y="5221333"/>
            <a:ext cx="4122515" cy="45211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474"/>
                </a:solidFill>
                <a:latin typeface="Noto Sans KR" pitchFamily="34" charset="0"/>
                <a:ea typeface="Noto Sans KR" pitchFamily="34" charset="-122"/>
                <a:cs typeface="Noto Sans KR" pitchFamily="34" charset="-120"/>
              </a:rPr>
              <a:t>여러 앱에 파편화된 일상 데이터를 삼성의 PDE 기술을 이용해</a:t>
            </a:r>
            <a:endParaRPr lang="en-US" sz="1200" dirty="0"/>
          </a:p>
          <a:p>
            <a:pPr algn="l" indent="0" marL="0">
              <a:lnSpc>
                <a:spcPts val="1680"/>
              </a:lnSpc>
              <a:buNone/>
            </a:pPr>
            <a:r>
              <a:rPr lang="en-US" sz="1200" dirty="0">
                <a:solidFill>
                  <a:srgbClr val="6A6474"/>
                </a:solidFill>
                <a:latin typeface="Noto Sans KR" pitchFamily="34" charset="0"/>
                <a:ea typeface="Noto Sans KR" pitchFamily="34" charset="-122"/>
                <a:cs typeface="Noto Sans KR" pitchFamily="34" charset="-120"/>
              </a:rPr>
              <a:t>통합 분석하여 개인화된 맞춤 경험을 제공한다</a:t>
            </a:r>
            <a:endParaRPr lang="en-US" sz="1200" dirty="0"/>
          </a:p>
        </p:txBody>
      </p:sp>
      <p:sp>
        <p:nvSpPr>
          <p:cNvPr id="25" name="Shape 19"/>
          <p:cNvSpPr/>
          <p:nvPr/>
        </p:nvSpPr>
        <p:spPr>
          <a:xfrm>
            <a:off x="6089676" y="4862647"/>
            <a:ext cx="12634" cy="825443"/>
          </a:xfrm>
          <a:prstGeom prst="rect">
            <a:avLst/>
          </a:prstGeom>
          <a:solidFill>
            <a:srgbClr val="E4DDF7"/>
          </a:solidFill>
          <a:ln/>
        </p:spPr>
      </p:sp>
      <p:sp>
        <p:nvSpPr>
          <p:cNvPr id="26" name="Shape 20"/>
          <p:cNvSpPr/>
          <p:nvPr/>
        </p:nvSpPr>
        <p:spPr>
          <a:xfrm>
            <a:off x="6381693" y="5008691"/>
            <a:ext cx="533354" cy="533354"/>
          </a:xfrm>
          <a:prstGeom prst="roundRect">
            <a:avLst>
              <a:gd name="adj" fmla="val 26193"/>
            </a:avLst>
          </a:prstGeom>
          <a:solidFill>
            <a:srgbClr val="F1ECFF"/>
          </a:solidFill>
          <a:ln/>
        </p:spPr>
      </p:sp>
      <p:pic>
        <p:nvPicPr>
          <p:cNvPr id="27" name="Image 4" descr="Verified">    </p:cNvPr>
          <p:cNvPicPr>
            <a:picLocks noChangeAspect="1"/>
          </p:cNvPicPr>
          <p:nvPr/>
        </p:nvPicPr>
        <p:blipFill>
          <a:blip r:embed="rId5"/>
          <a:srcRect l="0" r="0" t="0" b="0"/>
          <a:stretch/>
        </p:blipFill>
        <p:spPr>
          <a:xfrm>
            <a:off x="6508679" y="5135677"/>
            <a:ext cx="279383" cy="279383"/>
          </a:xfrm>
          <a:prstGeom prst="rect">
            <a:avLst/>
          </a:prstGeom>
        </p:spPr>
      </p:pic>
      <p:sp>
        <p:nvSpPr>
          <p:cNvPr id="28" name="Text 21"/>
          <p:cNvSpPr/>
          <p:nvPr/>
        </p:nvSpPr>
        <p:spPr>
          <a:xfrm>
            <a:off x="7067445" y="4795977"/>
            <a:ext cx="448103" cy="306068"/>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C1A24"/>
                </a:solidFill>
                <a:latin typeface="Noto Sans KR" pitchFamily="34" charset="0"/>
                <a:ea typeface="Noto Sans KR" pitchFamily="34" charset="-122"/>
                <a:cs typeface="Noto Sans KR" pitchFamily="34" charset="-120"/>
              </a:rPr>
              <a:t>보안</a:t>
            </a:r>
            <a:endParaRPr lang="en-US" sz="1700" dirty="0"/>
          </a:p>
        </p:txBody>
      </p:sp>
      <p:sp>
        <p:nvSpPr>
          <p:cNvPr id="29" name="Text 22"/>
          <p:cNvSpPr/>
          <p:nvPr/>
        </p:nvSpPr>
        <p:spPr>
          <a:xfrm>
            <a:off x="7553616" y="4850798"/>
            <a:ext cx="1367554" cy="239969"/>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6B4EFF"/>
                </a:solidFill>
                <a:latin typeface="Noto Sans KR" pitchFamily="34" charset="0"/>
                <a:ea typeface="Noto Sans KR" pitchFamily="34" charset="-122"/>
                <a:cs typeface="Noto Sans KR" pitchFamily="34" charset="-120"/>
              </a:rPr>
              <a:t>KEEP, Knox Vault</a:t>
            </a:r>
            <a:endParaRPr lang="en-US" sz="1300" dirty="0"/>
          </a:p>
        </p:txBody>
      </p:sp>
      <p:sp>
        <p:nvSpPr>
          <p:cNvPr id="30" name="Text 23"/>
          <p:cNvSpPr/>
          <p:nvPr/>
        </p:nvSpPr>
        <p:spPr>
          <a:xfrm>
            <a:off x="7067445" y="5114691"/>
            <a:ext cx="4122515" cy="66546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474"/>
                </a:solidFill>
                <a:latin typeface="Noto Sans KR" pitchFamily="34" charset="0"/>
                <a:ea typeface="Noto Sans KR" pitchFamily="34" charset="-122"/>
                <a:cs typeface="Noto Sans KR" pitchFamily="34" charset="-120"/>
              </a:rPr>
              <a:t>삼성만의 보안 계층인 KEEP은 PDE와 연동해</a:t>
            </a:r>
            <a:endParaRPr lang="en-US" sz="1200" dirty="0"/>
          </a:p>
          <a:p>
            <a:pPr algn="l" indent="0" marL="0">
              <a:lnSpc>
                <a:spcPts val="1680"/>
              </a:lnSpc>
              <a:buNone/>
            </a:pPr>
            <a:r>
              <a:rPr lang="en-US" sz="1200" dirty="0">
                <a:solidFill>
                  <a:srgbClr val="6A6474"/>
                </a:solidFill>
                <a:latin typeface="Noto Sans KR" pitchFamily="34" charset="0"/>
                <a:ea typeface="Noto Sans KR" pitchFamily="34" charset="-122"/>
                <a:cs typeface="Noto Sans KR" pitchFamily="34" charset="-120"/>
              </a:rPr>
              <a:t>사용자의 민감한 데이터를 보호하면서도</a:t>
            </a:r>
            <a:endParaRPr lang="en-US" sz="1200" dirty="0"/>
          </a:p>
          <a:p>
            <a:pPr algn="l" indent="0" marL="0">
              <a:lnSpc>
                <a:spcPts val="1680"/>
              </a:lnSpc>
              <a:buNone/>
            </a:pPr>
            <a:r>
              <a:rPr lang="en-US" sz="1200" dirty="0">
                <a:solidFill>
                  <a:srgbClr val="6A6474"/>
                </a:solidFill>
                <a:latin typeface="Noto Sans KR" pitchFamily="34" charset="0"/>
                <a:ea typeface="Noto Sans KR" pitchFamily="34" charset="-122"/>
                <a:cs typeface="Noto Sans KR" pitchFamily="34" charset="-120"/>
              </a:rPr>
              <a:t>막힘없는 AI 경험을 제공한다</a:t>
            </a:r>
            <a:endParaRPr lang="en-US" sz="1200" dirty="0"/>
          </a:p>
        </p:txBody>
      </p:sp>
      <p:sp>
        <p:nvSpPr>
          <p:cNvPr id="31" name="Text 24"/>
          <p:cNvSpPr/>
          <p:nvPr/>
        </p:nvSpPr>
        <p:spPr>
          <a:xfrm rot="21240000">
            <a:off x="10478660" y="2956904"/>
            <a:ext cx="1193800" cy="584200"/>
          </a:xfrm>
          <a:prstGeom prst="rect">
            <a:avLst/>
          </a:prstGeom>
          <a:noFill/>
          <a:ln/>
        </p:spPr>
        <p:txBody>
          <a:bodyPr wrap="square" lIns="0" tIns="0" rIns="0" bIns="0" rtlCol="0" anchor="t">
            <a:normAutofit/>
          </a:bodyPr>
          <a:lstStyle/>
          <a:p>
            <a:pPr algn="l" indent="0" marL="0">
              <a:lnSpc>
                <a:spcPts val="2205"/>
              </a:lnSpc>
              <a:buNone/>
            </a:pPr>
            <a:r>
              <a:rPr lang="en-US" sz="2100" dirty="0">
                <a:solidFill>
                  <a:srgbClr val="6B4EFF"/>
                </a:solidFill>
                <a:latin typeface="Nanum Pen Script" pitchFamily="34" charset="0"/>
                <a:ea typeface="Nanum Pen Script" pitchFamily="34" charset="-122"/>
                <a:cs typeface="Nanum Pen Script" pitchFamily="34" charset="-120"/>
              </a:rPr>
              <a:t>모두 삼성</a:t>
            </a:r>
            <a:endParaRPr lang="en-US" sz="2100" dirty="0"/>
          </a:p>
          <a:p>
            <a:pPr algn="l" indent="0" marL="0">
              <a:lnSpc>
                <a:spcPts val="2205"/>
              </a:lnSpc>
              <a:buNone/>
            </a:pPr>
            <a:r>
              <a:rPr lang="en-US" sz="2100" dirty="0">
                <a:solidFill>
                  <a:srgbClr val="6B4EFF"/>
                </a:solidFill>
                <a:latin typeface="Nanum Pen Script" pitchFamily="34" charset="0"/>
                <a:ea typeface="Nanum Pen Script" pitchFamily="34" charset="-122"/>
                <a:cs typeface="Nanum Pen Script" pitchFamily="34" charset="-120"/>
              </a:rPr>
              <a:t>안에서!</a:t>
            </a:r>
            <a:endParaRPr lang="en-US" sz="2100" dirty="0"/>
          </a:p>
        </p:txBody>
      </p:sp>
      <p:sp>
        <p:nvSpPr>
          <p:cNvPr id="32" name="Text 25"/>
          <p:cNvSpPr/>
          <p:nvPr/>
        </p:nvSpPr>
        <p:spPr>
          <a:xfrm>
            <a:off x="812737" y="6304317"/>
            <a:ext cx="5886450" cy="223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E88A0"/>
                </a:solidFill>
                <a:latin typeface="Noto Sans KR" pitchFamily="34" charset="0"/>
                <a:ea typeface="Noto Sans KR" pitchFamily="34" charset="-122"/>
                <a:cs typeface="Noto Sans KR" pitchFamily="34" charset="-120"/>
              </a:rPr>
              <a:t>Weave · for a richer tomorrow</a:t>
            </a:r>
            <a:endParaRPr lang="en-US" sz="1200" dirty="0"/>
          </a:p>
        </p:txBody>
      </p:sp>
      <p:sp>
        <p:nvSpPr>
          <p:cNvPr id="33" name="Text 26"/>
          <p:cNvSpPr/>
          <p:nvPr/>
        </p:nvSpPr>
        <p:spPr>
          <a:xfrm>
            <a:off x="10058449" y="6304317"/>
            <a:ext cx="1320800" cy="223481"/>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8E88A0"/>
                </a:solidFill>
                <a:latin typeface="Noto Sans KR" pitchFamily="34" charset="0"/>
                <a:ea typeface="Noto Sans KR" pitchFamily="34" charset="-122"/>
                <a:cs typeface="Noto Sans KR" pitchFamily="34" charset="-120"/>
              </a:rPr>
              <a:t>08</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CFF"/>
        </a:solidFill>
      </p:bgPr>
    </p:bg>
    <p:spTree>
      <p:nvGrpSpPr>
        <p:cNvPr id="1" name=""/>
        <p:cNvGrpSpPr/>
        <p:nvPr/>
      </p:nvGrpSpPr>
      <p:grpSpPr>
        <a:xfrm>
          <a:off x="0" y="0"/>
          <a:ext cx="0" cy="0"/>
          <a:chOff x="0" y="0"/>
          <a:chExt cx="0" cy="0"/>
        </a:xfrm>
      </p:grpSpPr>
      <p:sp>
        <p:nvSpPr>
          <p:cNvPr id="2" name="Shape 0"/>
          <p:cNvSpPr/>
          <p:nvPr/>
        </p:nvSpPr>
        <p:spPr>
          <a:xfrm>
            <a:off x="0" y="0"/>
            <a:ext cx="12191986" cy="6857943"/>
          </a:xfrm>
          <a:prstGeom prst="rect">
            <a:avLst/>
          </a:prstGeom>
          <a:gradFill rotWithShape="1">
            <a:gsLst>
              <a:gs pos="0">
                <a:srgbClr val="FDFCFF"/>
              </a:gs>
              <a:gs pos="50000">
                <a:srgbClr val="F8F5FF"/>
              </a:gs>
              <a:gs pos="100000">
                <a:srgbClr val="F2EDFF"/>
              </a:gs>
            </a:gsLst>
            <a:lin ang="4200000" scaled="0"/>
          </a:gradFill>
          <a:ln/>
        </p:spPr>
      </p:sp>
      <p:sp>
        <p:nvSpPr>
          <p:cNvPr id="3" name="Shape 1"/>
          <p:cNvSpPr/>
          <p:nvPr/>
        </p:nvSpPr>
        <p:spPr>
          <a:xfrm>
            <a:off x="6095957" y="0"/>
            <a:ext cx="6095957" cy="4825957"/>
          </a:xfrm>
          <a:prstGeom prst="rect">
            <a:avLst/>
          </a:prstGeom>
          <a:gradFill rotWithShape="1">
            <a:gsLst>
              <a:gs pos="0">
                <a:srgbClr val="FFE282">
                  <a:alpha val="42000"/>
                </a:srgbClr>
              </a:gs>
              <a:gs pos="30000">
                <a:srgbClr val="FFEEB9">
                  <a:alpha val="18000"/>
                </a:srgbClr>
              </a:gs>
              <a:gs pos="60000">
                <a:srgbClr val="FFFAEB">
                  <a:alpha val="0"/>
                </a:srgbClr>
              </a:gs>
            </a:gsLst>
            <a:path path="circle">
              <a:fillToRect l="85000" t="8000" r="15000" b="92000"/>
            </a:path>
          </a:gradFill>
          <a:ln/>
        </p:spPr>
      </p:sp>
      <p:sp>
        <p:nvSpPr>
          <p:cNvPr id="4" name="Shape 2"/>
          <p:cNvSpPr/>
          <p:nvPr/>
        </p:nvSpPr>
        <p:spPr>
          <a:xfrm>
            <a:off x="0" y="3555957"/>
            <a:ext cx="5715000" cy="3301986"/>
          </a:xfrm>
          <a:prstGeom prst="rect">
            <a:avLst/>
          </a:prstGeom>
          <a:gradFill rotWithShape="1">
            <a:gsLst>
              <a:gs pos="0">
                <a:srgbClr val="BAA6FF">
                  <a:alpha val="34000"/>
                </a:srgbClr>
              </a:gs>
              <a:gs pos="40000">
                <a:srgbClr val="DCD0FF">
                  <a:alpha val="16000"/>
                </a:srgbClr>
              </a:gs>
              <a:gs pos="72000">
                <a:srgbClr val="F8F5FF">
                  <a:alpha val="0"/>
                </a:srgbClr>
              </a:gs>
            </a:gsLst>
            <a:path path="circle">
              <a:fillToRect l="12000" t="88000" r="88000" b="12000"/>
            </a:path>
          </a:gradFill>
          <a:ln/>
        </p:spPr>
      </p:sp>
      <p:sp>
        <p:nvSpPr>
          <p:cNvPr id="5" name="Text 3"/>
          <p:cNvSpPr/>
          <p:nvPr/>
        </p:nvSpPr>
        <p:spPr>
          <a:xfrm>
            <a:off x="5504654" y="457191"/>
            <a:ext cx="1182608" cy="220411"/>
          </a:xfrm>
          <a:prstGeom prst="rect">
            <a:avLst/>
          </a:prstGeom>
          <a:noFill/>
          <a:ln/>
        </p:spPr>
        <p:txBody>
          <a:bodyPr wrap="square" lIns="0" tIns="0" rIns="0" bIns="0" rtlCol="0" anchor="t">
            <a:normAutofit/>
          </a:bodyPr>
          <a:lstStyle/>
          <a:p>
            <a:pPr algn="ctr" indent="0" marL="0">
              <a:lnSpc>
                <a:spcPts val="1560"/>
              </a:lnSpc>
              <a:buNone/>
            </a:pPr>
            <a:r>
              <a:rPr lang="en-US" sz="1200" b="1" spc="50" kern="0" dirty="0">
                <a:solidFill>
                  <a:srgbClr val="6B4EFF"/>
                </a:solidFill>
                <a:latin typeface="Noto Sans KR" pitchFamily="34" charset="0"/>
                <a:ea typeface="Noto Sans KR" pitchFamily="34" charset="-122"/>
                <a:cs typeface="Noto Sans KR" pitchFamily="34" charset="-120"/>
              </a:rPr>
              <a:t>09 / WHY NOW</a:t>
            </a:r>
            <a:endParaRPr lang="en-US" sz="1200" dirty="0"/>
          </a:p>
        </p:txBody>
      </p:sp>
      <p:sp>
        <p:nvSpPr>
          <p:cNvPr id="6" name="Text 4"/>
          <p:cNvSpPr/>
          <p:nvPr/>
        </p:nvSpPr>
        <p:spPr>
          <a:xfrm>
            <a:off x="5202668" y="741071"/>
            <a:ext cx="1786506" cy="460464"/>
          </a:xfrm>
          <a:prstGeom prst="rect">
            <a:avLst/>
          </a:prstGeom>
          <a:noFill/>
          <a:ln/>
        </p:spPr>
        <p:txBody>
          <a:bodyPr wrap="square" lIns="0" tIns="0" rIns="0" bIns="0" rtlCol="0" anchor="t">
            <a:normAutofit/>
          </a:bodyPr>
          <a:lstStyle/>
          <a:p>
            <a:pPr algn="ctr" indent="0" marL="0">
              <a:lnSpc>
                <a:spcPts val="3469"/>
              </a:lnSpc>
              <a:buNone/>
            </a:pPr>
            <a:r>
              <a:rPr lang="en-US" sz="2891" b="1" spc="-50" kern="0" dirty="0">
                <a:solidFill>
                  <a:srgbClr val="1C1A24"/>
                </a:solidFill>
                <a:latin typeface="Noto Sans KR" pitchFamily="34" charset="0"/>
                <a:ea typeface="Noto Sans KR" pitchFamily="34" charset="-122"/>
                <a:cs typeface="Noto Sans KR" pitchFamily="34" charset="-120"/>
              </a:rPr>
              <a:t>왜 </a:t>
            </a:r>
            <a:r>
              <a:rPr lang="en-US" sz="2891" b="1" spc="-50" kern="0" dirty="0">
                <a:solidFill>
                  <a:srgbClr val="6B4EFF"/>
                </a:solidFill>
                <a:latin typeface="Noto Sans KR" pitchFamily="34" charset="0"/>
                <a:ea typeface="Noto Sans KR" pitchFamily="34" charset="-122"/>
                <a:cs typeface="Noto Sans KR" pitchFamily="34" charset="-120"/>
              </a:rPr>
              <a:t>지금</a:t>
            </a:r>
            <a:r>
              <a:rPr lang="en-US" sz="2891" b="1" spc="-50" kern="0" dirty="0">
                <a:solidFill>
                  <a:srgbClr val="1C1A24"/>
                </a:solidFill>
                <a:latin typeface="Noto Sans KR" pitchFamily="34" charset="0"/>
                <a:ea typeface="Noto Sans KR" pitchFamily="34" charset="-122"/>
                <a:cs typeface="Noto Sans KR" pitchFamily="34" charset="-120"/>
              </a:rPr>
              <a:t>인가</a:t>
            </a:r>
            <a:endParaRPr lang="en-US" sz="2891" dirty="0"/>
          </a:p>
        </p:txBody>
      </p:sp>
      <p:sp>
        <p:nvSpPr>
          <p:cNvPr id="7" name="Text 5"/>
          <p:cNvSpPr/>
          <p:nvPr/>
        </p:nvSpPr>
        <p:spPr>
          <a:xfrm>
            <a:off x="2151145" y="1265003"/>
            <a:ext cx="7889626" cy="270449"/>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5B5866"/>
                </a:solidFill>
                <a:latin typeface="Noto Sans KR" pitchFamily="34" charset="0"/>
                <a:ea typeface="Noto Sans KR" pitchFamily="34" charset="-122"/>
                <a:cs typeface="Noto Sans KR" pitchFamily="34" charset="-120"/>
              </a:rPr>
              <a:t>기기 안에서 기록을 이해하고, 이를 실제 사용으로 연결할 온디바이스 AI 개발 인프라가 갖춰지고 있습니다.</a:t>
            </a:r>
            <a:endParaRPr lang="en-US" sz="1400" dirty="0"/>
          </a:p>
        </p:txBody>
      </p:sp>
      <p:sp>
        <p:nvSpPr>
          <p:cNvPr id="8" name="Shape 6"/>
          <p:cNvSpPr/>
          <p:nvPr/>
        </p:nvSpPr>
        <p:spPr>
          <a:xfrm>
            <a:off x="1908175" y="1652918"/>
            <a:ext cx="8375636" cy="763273"/>
          </a:xfrm>
          <a:prstGeom prst="roundRect">
            <a:avLst>
              <a:gd name="adj" fmla="val 19551"/>
            </a:avLst>
          </a:prstGeom>
          <a:solidFill>
            <a:srgbClr val="FFFFFF">
              <a:alpha val="90000"/>
            </a:srgbClr>
          </a:solidFill>
          <a:ln w="6350">
            <a:solidFill>
              <a:srgbClr val="E4DDF7"/>
            </a:solidFill>
            <a:prstDash val="solid"/>
          </a:ln>
          <a:effectLst>
            <a:outerShdw sx="100000" sy="100000" kx="0" ky="0" algn="bl" rotWithShape="0" blurRad="254000" dist="101600" dir="5400000">
              <a:srgbClr val="6B4EFF">
                <a:alpha val="8000"/>
              </a:srgbClr>
            </a:outerShdw>
          </a:effectLst>
        </p:spPr>
      </p:sp>
      <p:pic>
        <p:nvPicPr>
          <p:cNvPr id="9" name="Image 0" descr="갤러리">    </p:cNvPr>
          <p:cNvPicPr>
            <a:picLocks noChangeAspect="1"/>
          </p:cNvPicPr>
          <p:nvPr/>
        </p:nvPicPr>
        <p:blipFill>
          <a:blip r:embed="rId1"/>
          <a:srcRect l="0" r="0" t="0" b="0"/>
          <a:stretch/>
        </p:blipFill>
        <p:spPr>
          <a:xfrm>
            <a:off x="4377617" y="1805924"/>
            <a:ext cx="457191" cy="457191"/>
          </a:xfrm>
          <a:prstGeom prst="rect">
            <a:avLst/>
          </a:prstGeom>
        </p:spPr>
      </p:pic>
      <p:pic>
        <p:nvPicPr>
          <p:cNvPr id="10" name="Image 1" descr="삼성노트">    </p:cNvPr>
          <p:cNvPicPr>
            <a:picLocks noChangeAspect="1"/>
          </p:cNvPicPr>
          <p:nvPr/>
        </p:nvPicPr>
        <p:blipFill>
          <a:blip r:embed="rId2"/>
          <a:srcRect l="0" r="0" t="0" b="0"/>
          <a:stretch/>
        </p:blipFill>
        <p:spPr>
          <a:xfrm>
            <a:off x="4923677" y="1805924"/>
            <a:ext cx="457191" cy="457191"/>
          </a:xfrm>
          <a:prstGeom prst="rect">
            <a:avLst/>
          </a:prstGeom>
        </p:spPr>
      </p:pic>
      <p:pic>
        <p:nvPicPr>
          <p:cNvPr id="11" name="Image 2" descr="캘린더">    </p:cNvPr>
          <p:cNvPicPr>
            <a:picLocks noChangeAspect="1"/>
          </p:cNvPicPr>
          <p:nvPr/>
        </p:nvPicPr>
        <p:blipFill>
          <a:blip r:embed="rId3"/>
          <a:srcRect l="0" r="0" t="0" b="0"/>
          <a:stretch/>
        </p:blipFill>
        <p:spPr>
          <a:xfrm>
            <a:off x="5469737" y="1805924"/>
            <a:ext cx="457191" cy="457191"/>
          </a:xfrm>
          <a:prstGeom prst="rect">
            <a:avLst/>
          </a:prstGeom>
        </p:spPr>
      </p:pic>
      <p:sp>
        <p:nvSpPr>
          <p:cNvPr id="12" name="Text 7"/>
          <p:cNvSpPr/>
          <p:nvPr/>
        </p:nvSpPr>
        <p:spPr>
          <a:xfrm>
            <a:off x="6104666" y="1789506"/>
            <a:ext cx="1760921" cy="289579"/>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C1A24"/>
                </a:solidFill>
                <a:latin typeface="Noto Sans KR" pitchFamily="34" charset="0"/>
                <a:ea typeface="Noto Sans KR" pitchFamily="34" charset="-122"/>
                <a:cs typeface="Noto Sans KR" pitchFamily="34" charset="-120"/>
              </a:rPr>
              <a:t>기기 안에 남은 기록</a:t>
            </a:r>
            <a:endParaRPr lang="en-US" sz="1600" dirty="0"/>
          </a:p>
        </p:txBody>
      </p:sp>
      <p:sp>
        <p:nvSpPr>
          <p:cNvPr id="13" name="Text 8"/>
          <p:cNvSpPr/>
          <p:nvPr/>
        </p:nvSpPr>
        <p:spPr>
          <a:xfrm>
            <a:off x="6104666" y="2066320"/>
            <a:ext cx="1760921" cy="23875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474"/>
                </a:solidFill>
                <a:latin typeface="Noto Sans KR" pitchFamily="34" charset="0"/>
                <a:ea typeface="Noto Sans KR" pitchFamily="34" charset="-122"/>
                <a:cs typeface="Noto Sans KR" pitchFamily="34" charset="-120"/>
              </a:rPr>
              <a:t>갤러리 · 삼성노트 · 캘린더</a:t>
            </a:r>
            <a:endParaRPr lang="en-US" sz="1200" dirty="0"/>
          </a:p>
        </p:txBody>
      </p:sp>
      <p:pic>
        <p:nvPicPr>
          <p:cNvPr id="14" name="Image 3" descr="preencoded.png">    </p:cNvPr>
          <p:cNvPicPr>
            <a:picLocks noChangeAspect="1"/>
          </p:cNvPicPr>
          <p:nvPr/>
        </p:nvPicPr>
        <p:blipFill>
          <a:blip r:embed="rId4"/>
          <a:srcRect l="-951" r="-951" t="0" b="0"/>
          <a:stretch/>
        </p:blipFill>
        <p:spPr>
          <a:xfrm>
            <a:off x="5918220" y="2470118"/>
            <a:ext cx="355546" cy="174454"/>
          </a:xfrm>
          <a:prstGeom prst="rect">
            <a:avLst/>
          </a:prstGeom>
        </p:spPr>
      </p:pic>
      <p:sp>
        <p:nvSpPr>
          <p:cNvPr id="15" name="Shape 9"/>
          <p:cNvSpPr/>
          <p:nvPr/>
        </p:nvSpPr>
        <p:spPr>
          <a:xfrm>
            <a:off x="1908175" y="2698499"/>
            <a:ext cx="8375636" cy="1469226"/>
          </a:xfrm>
          <a:prstGeom prst="roundRect">
            <a:avLst>
              <a:gd name="adj" fmla="val 10157"/>
            </a:avLst>
          </a:prstGeom>
          <a:solidFill>
            <a:srgbClr val="FFFFFF">
              <a:alpha val="90000"/>
            </a:srgbClr>
          </a:solidFill>
          <a:ln w="6350">
            <a:solidFill>
              <a:srgbClr val="E4DDF7"/>
            </a:solidFill>
            <a:prstDash val="solid"/>
          </a:ln>
          <a:effectLst>
            <a:outerShdw sx="100000" sy="100000" kx="0" ky="0" algn="bl" rotWithShape="0" blurRad="254000" dist="101600" dir="5400000">
              <a:srgbClr val="6B4EFF">
                <a:alpha val="8000"/>
              </a:srgbClr>
            </a:outerShdw>
          </a:effectLst>
        </p:spPr>
      </p:sp>
      <p:sp>
        <p:nvSpPr>
          <p:cNvPr id="16" name="Text 10"/>
          <p:cNvSpPr/>
          <p:nvPr/>
        </p:nvSpPr>
        <p:spPr>
          <a:xfrm>
            <a:off x="2112717" y="2852289"/>
            <a:ext cx="8205549" cy="219483"/>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6B4EFF"/>
                </a:solidFill>
                <a:latin typeface="Noto Sans KR" pitchFamily="34" charset="0"/>
                <a:ea typeface="Noto Sans KR" pitchFamily="34" charset="-122"/>
                <a:cs typeface="Noto Sans KR" pitchFamily="34" charset="-120"/>
              </a:rPr>
              <a:t>온디바이스 AI 실행 환경</a:t>
            </a:r>
            <a:endParaRPr lang="en-US" sz="1200" dirty="0"/>
          </a:p>
        </p:txBody>
      </p:sp>
      <p:sp>
        <p:nvSpPr>
          <p:cNvPr id="17" name="Shape 11"/>
          <p:cNvSpPr/>
          <p:nvPr/>
        </p:nvSpPr>
        <p:spPr>
          <a:xfrm>
            <a:off x="2115892" y="3138416"/>
            <a:ext cx="2564486" cy="872343"/>
          </a:xfrm>
          <a:prstGeom prst="roundRect">
            <a:avLst>
              <a:gd name="adj" fmla="val 12739"/>
            </a:avLst>
          </a:prstGeom>
          <a:solidFill>
            <a:srgbClr val="F7F4FF"/>
          </a:solidFill>
          <a:ln w="6350">
            <a:solidFill>
              <a:srgbClr val="E9E3FA"/>
            </a:solidFill>
            <a:prstDash val="solid"/>
          </a:ln>
        </p:spPr>
      </p:sp>
      <p:pic>
        <p:nvPicPr>
          <p:cNvPr id="18" name="Image 4" descr="API">    </p:cNvPr>
          <p:cNvPicPr>
            <a:picLocks noChangeAspect="1"/>
          </p:cNvPicPr>
          <p:nvPr/>
        </p:nvPicPr>
        <p:blipFill>
          <a:blip r:embed="rId5"/>
          <a:srcRect l="0" r="0" t="0" b="0"/>
          <a:stretch/>
        </p:blipFill>
        <p:spPr>
          <a:xfrm>
            <a:off x="2244271" y="3396779"/>
            <a:ext cx="355546" cy="355546"/>
          </a:xfrm>
          <a:prstGeom prst="rect">
            <a:avLst/>
          </a:prstGeom>
        </p:spPr>
      </p:pic>
      <p:sp>
        <p:nvSpPr>
          <p:cNvPr id="19" name="Text 12"/>
          <p:cNvSpPr/>
          <p:nvPr/>
        </p:nvSpPr>
        <p:spPr>
          <a:xfrm>
            <a:off x="2701391" y="3245167"/>
            <a:ext cx="1906126" cy="239969"/>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C1A24"/>
                </a:solidFill>
                <a:latin typeface="Noto Sans KR" pitchFamily="34" charset="0"/>
                <a:ea typeface="Noto Sans KR" pitchFamily="34" charset="-122"/>
                <a:cs typeface="Noto Sans KR" pitchFamily="34" charset="-120"/>
              </a:rPr>
              <a:t>온디바이스 API</a:t>
            </a:r>
            <a:endParaRPr lang="en-US" sz="1300" dirty="0"/>
          </a:p>
        </p:txBody>
      </p:sp>
      <p:sp>
        <p:nvSpPr>
          <p:cNvPr id="20" name="Text 13"/>
          <p:cNvSpPr/>
          <p:nvPr/>
        </p:nvSpPr>
        <p:spPr>
          <a:xfrm>
            <a:off x="2701391" y="3472370"/>
            <a:ext cx="1906126" cy="231118"/>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6B4EFF"/>
                </a:solidFill>
                <a:latin typeface="Noto Sans KR" pitchFamily="34" charset="0"/>
                <a:ea typeface="Noto Sans KR" pitchFamily="34" charset="-122"/>
                <a:cs typeface="Noto Sans KR" pitchFamily="34" charset="-120"/>
              </a:rPr>
              <a:t>Android AICore</a:t>
            </a:r>
            <a:endParaRPr lang="en-US" sz="1200" dirty="0"/>
          </a:p>
        </p:txBody>
      </p:sp>
      <p:sp>
        <p:nvSpPr>
          <p:cNvPr id="21" name="Text 14"/>
          <p:cNvSpPr/>
          <p:nvPr/>
        </p:nvSpPr>
        <p:spPr>
          <a:xfrm>
            <a:off x="2701391" y="3690724"/>
            <a:ext cx="1906126" cy="23875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474"/>
                </a:solidFill>
                <a:latin typeface="Noto Sans KR" pitchFamily="34" charset="0"/>
                <a:ea typeface="Noto Sans KR" pitchFamily="34" charset="-122"/>
                <a:cs typeface="Noto Sans KR" pitchFamily="34" charset="-120"/>
              </a:rPr>
              <a:t>이미지 이해 · 요약 · 답변</a:t>
            </a:r>
            <a:endParaRPr lang="en-US" sz="1200" dirty="0"/>
          </a:p>
        </p:txBody>
      </p:sp>
      <p:sp>
        <p:nvSpPr>
          <p:cNvPr id="22" name="Shape 15"/>
          <p:cNvSpPr/>
          <p:nvPr/>
        </p:nvSpPr>
        <p:spPr>
          <a:xfrm>
            <a:off x="4813714" y="3138416"/>
            <a:ext cx="2564558" cy="872343"/>
          </a:xfrm>
          <a:prstGeom prst="roundRect">
            <a:avLst>
              <a:gd name="adj" fmla="val 12739"/>
            </a:avLst>
          </a:prstGeom>
          <a:solidFill>
            <a:srgbClr val="F7F4FF"/>
          </a:solidFill>
          <a:ln w="6350">
            <a:solidFill>
              <a:srgbClr val="E9E3FA"/>
            </a:solidFill>
            <a:prstDash val="solid"/>
          </a:ln>
        </p:spPr>
      </p:sp>
      <p:pic>
        <p:nvPicPr>
          <p:cNvPr id="23" name="Image 5" descr="언어모델">    </p:cNvPr>
          <p:cNvPicPr>
            <a:picLocks noChangeAspect="1"/>
          </p:cNvPicPr>
          <p:nvPr/>
        </p:nvPicPr>
        <p:blipFill>
          <a:blip r:embed="rId6"/>
          <a:srcRect l="0" r="0" t="0" b="0"/>
          <a:stretch/>
        </p:blipFill>
        <p:spPr>
          <a:xfrm>
            <a:off x="4942093" y="3396779"/>
            <a:ext cx="355546" cy="355546"/>
          </a:xfrm>
          <a:prstGeom prst="rect">
            <a:avLst/>
          </a:prstGeom>
        </p:spPr>
      </p:pic>
      <p:sp>
        <p:nvSpPr>
          <p:cNvPr id="24" name="Text 16"/>
          <p:cNvSpPr/>
          <p:nvPr/>
        </p:nvSpPr>
        <p:spPr>
          <a:xfrm>
            <a:off x="5399213" y="3245167"/>
            <a:ext cx="1906200" cy="239969"/>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C1A24"/>
                </a:solidFill>
                <a:latin typeface="Noto Sans KR" pitchFamily="34" charset="0"/>
                <a:ea typeface="Noto Sans KR" pitchFamily="34" charset="-122"/>
                <a:cs typeface="Noto Sans KR" pitchFamily="34" charset="-120"/>
              </a:rPr>
              <a:t>온디바이스 LLM</a:t>
            </a:r>
            <a:endParaRPr lang="en-US" sz="1300" dirty="0"/>
          </a:p>
        </p:txBody>
      </p:sp>
      <p:sp>
        <p:nvSpPr>
          <p:cNvPr id="25" name="Text 17"/>
          <p:cNvSpPr/>
          <p:nvPr/>
        </p:nvSpPr>
        <p:spPr>
          <a:xfrm>
            <a:off x="5399213" y="3472370"/>
            <a:ext cx="1906200" cy="231118"/>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6B4EFF"/>
                </a:solidFill>
                <a:latin typeface="Noto Sans KR" pitchFamily="34" charset="0"/>
                <a:ea typeface="Noto Sans KR" pitchFamily="34" charset="-122"/>
                <a:cs typeface="Noto Sans KR" pitchFamily="34" charset="-120"/>
              </a:rPr>
              <a:t>Gemini Nano, Llama</a:t>
            </a:r>
            <a:endParaRPr lang="en-US" sz="1200" dirty="0"/>
          </a:p>
        </p:txBody>
      </p:sp>
      <p:sp>
        <p:nvSpPr>
          <p:cNvPr id="26" name="Text 18"/>
          <p:cNvSpPr/>
          <p:nvPr/>
        </p:nvSpPr>
        <p:spPr>
          <a:xfrm>
            <a:off x="5399213" y="3690724"/>
            <a:ext cx="1906200" cy="23875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474"/>
                </a:solidFill>
                <a:latin typeface="Noto Sans KR" pitchFamily="34" charset="0"/>
                <a:ea typeface="Noto Sans KR" pitchFamily="34" charset="-122"/>
                <a:cs typeface="Noto Sans KR" pitchFamily="34" charset="-120"/>
              </a:rPr>
              <a:t>모바일용 경량 언어모델</a:t>
            </a:r>
            <a:endParaRPr lang="en-US" sz="1200" dirty="0"/>
          </a:p>
        </p:txBody>
      </p:sp>
      <p:sp>
        <p:nvSpPr>
          <p:cNvPr id="27" name="Shape 19"/>
          <p:cNvSpPr/>
          <p:nvPr/>
        </p:nvSpPr>
        <p:spPr>
          <a:xfrm>
            <a:off x="7511607" y="3138416"/>
            <a:ext cx="2564486" cy="872343"/>
          </a:xfrm>
          <a:prstGeom prst="roundRect">
            <a:avLst>
              <a:gd name="adj" fmla="val 12739"/>
            </a:avLst>
          </a:prstGeom>
          <a:solidFill>
            <a:srgbClr val="F7F4FF"/>
          </a:solidFill>
          <a:ln w="6350">
            <a:solidFill>
              <a:srgbClr val="E9E3FA"/>
            </a:solidFill>
            <a:prstDash val="solid"/>
          </a:ln>
        </p:spPr>
      </p:sp>
      <p:pic>
        <p:nvPicPr>
          <p:cNvPr id="28" name="Image 6" descr="NPU 칩">    </p:cNvPr>
          <p:cNvPicPr>
            <a:picLocks noChangeAspect="1"/>
          </p:cNvPicPr>
          <p:nvPr/>
        </p:nvPicPr>
        <p:blipFill>
          <a:blip r:embed="rId7"/>
          <a:srcRect l="0" r="0" t="0" b="0"/>
          <a:stretch/>
        </p:blipFill>
        <p:spPr>
          <a:xfrm>
            <a:off x="7639987" y="3396779"/>
            <a:ext cx="355546" cy="355546"/>
          </a:xfrm>
          <a:prstGeom prst="rect">
            <a:avLst/>
          </a:prstGeom>
        </p:spPr>
      </p:pic>
      <p:sp>
        <p:nvSpPr>
          <p:cNvPr id="29" name="Text 20"/>
          <p:cNvSpPr/>
          <p:nvPr/>
        </p:nvSpPr>
        <p:spPr>
          <a:xfrm>
            <a:off x="8097107" y="3245167"/>
            <a:ext cx="1906126" cy="239969"/>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C1A24"/>
                </a:solidFill>
                <a:latin typeface="Noto Sans KR" pitchFamily="34" charset="0"/>
                <a:ea typeface="Noto Sans KR" pitchFamily="34" charset="-122"/>
                <a:cs typeface="Noto Sans KR" pitchFamily="34" charset="-120"/>
              </a:rPr>
              <a:t>온디바이스 AI 연산력</a:t>
            </a:r>
            <a:endParaRPr lang="en-US" sz="1300" dirty="0"/>
          </a:p>
        </p:txBody>
      </p:sp>
      <p:sp>
        <p:nvSpPr>
          <p:cNvPr id="30" name="Text 21"/>
          <p:cNvSpPr/>
          <p:nvPr/>
        </p:nvSpPr>
        <p:spPr>
          <a:xfrm>
            <a:off x="8097107" y="3472370"/>
            <a:ext cx="1906126" cy="231118"/>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6B4EFF"/>
                </a:solidFill>
                <a:latin typeface="Noto Sans KR" pitchFamily="34" charset="0"/>
                <a:ea typeface="Noto Sans KR" pitchFamily="34" charset="-122"/>
                <a:cs typeface="Noto Sans KR" pitchFamily="34" charset="-120"/>
              </a:rPr>
              <a:t>NPU</a:t>
            </a:r>
            <a:endParaRPr lang="en-US" sz="1200" dirty="0"/>
          </a:p>
        </p:txBody>
      </p:sp>
      <p:sp>
        <p:nvSpPr>
          <p:cNvPr id="31" name="Text 22"/>
          <p:cNvSpPr/>
          <p:nvPr/>
        </p:nvSpPr>
        <p:spPr>
          <a:xfrm>
            <a:off x="8097107" y="3690724"/>
            <a:ext cx="1906126" cy="23875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474"/>
                </a:solidFill>
                <a:latin typeface="Noto Sans KR" pitchFamily="34" charset="0"/>
                <a:ea typeface="Noto Sans KR" pitchFamily="34" charset="-122"/>
                <a:cs typeface="Noto Sans KR" pitchFamily="34" charset="-120"/>
              </a:rPr>
              <a:t>AI 연산 특화 HW</a:t>
            </a:r>
            <a:endParaRPr lang="en-US" sz="1200" dirty="0"/>
          </a:p>
        </p:txBody>
      </p:sp>
      <p:pic>
        <p:nvPicPr>
          <p:cNvPr id="32" name="Image 7" descr="preencoded.png">    </p:cNvPr>
          <p:cNvPicPr>
            <a:picLocks noChangeAspect="1"/>
          </p:cNvPicPr>
          <p:nvPr/>
        </p:nvPicPr>
        <p:blipFill>
          <a:blip r:embed="rId8"/>
          <a:srcRect l="-951" r="-951" t="0" b="0"/>
          <a:stretch/>
        </p:blipFill>
        <p:spPr>
          <a:xfrm>
            <a:off x="5918220" y="4221651"/>
            <a:ext cx="355546" cy="174454"/>
          </a:xfrm>
          <a:prstGeom prst="rect">
            <a:avLst/>
          </a:prstGeom>
        </p:spPr>
      </p:pic>
      <p:sp>
        <p:nvSpPr>
          <p:cNvPr id="33" name="Shape 23"/>
          <p:cNvSpPr/>
          <p:nvPr/>
        </p:nvSpPr>
        <p:spPr>
          <a:xfrm>
            <a:off x="1911350" y="4453206"/>
            <a:ext cx="8369286" cy="798395"/>
          </a:xfrm>
          <a:prstGeom prst="roundRect">
            <a:avLst>
              <a:gd name="adj" fmla="val 18293"/>
            </a:avLst>
          </a:prstGeom>
          <a:gradFill rotWithShape="1">
            <a:gsLst>
              <a:gs pos="0">
                <a:srgbClr val="FFFFFF"/>
              </a:gs>
              <a:gs pos="100000">
                <a:srgbClr val="F3EEFF"/>
              </a:gs>
            </a:gsLst>
            <a:lin ang="1800000" scaled="0"/>
          </a:gradFill>
          <a:ln w="12700">
            <a:solidFill>
              <a:srgbClr val="8B6BFF"/>
            </a:solidFill>
            <a:prstDash val="solid"/>
          </a:ln>
          <a:effectLst>
            <a:outerShdw sx="100000" sy="100000" kx="0" ky="0" algn="bl" rotWithShape="0" blurRad="317500" dist="127000" dir="5400000">
              <a:srgbClr val="6B4EFF">
                <a:alpha val="16000"/>
              </a:srgbClr>
            </a:outerShdw>
          </a:effectLst>
        </p:spPr>
      </p:sp>
      <p:sp>
        <p:nvSpPr>
          <p:cNvPr id="34" name="Text 24"/>
          <p:cNvSpPr/>
          <p:nvPr/>
        </p:nvSpPr>
        <p:spPr>
          <a:xfrm>
            <a:off x="5702163" y="4595684"/>
            <a:ext cx="787588" cy="316846"/>
          </a:xfrm>
          <a:prstGeom prst="rect">
            <a:avLst/>
          </a:prstGeom>
          <a:noFill/>
          <a:ln/>
        </p:spPr>
        <p:txBody>
          <a:bodyPr wrap="square" lIns="0" tIns="0" rIns="0" bIns="0" rtlCol="0" anchor="t">
            <a:normAutofit/>
          </a:bodyPr>
          <a:lstStyle/>
          <a:p>
            <a:pPr algn="ctr" indent="0" marL="0">
              <a:lnSpc>
                <a:spcPts val="2318"/>
              </a:lnSpc>
              <a:buNone/>
            </a:pPr>
            <a:r>
              <a:rPr lang="en-US" sz="1783" b="1" dirty="0">
                <a:solidFill>
                  <a:srgbClr val="6B4EFF"/>
                </a:solidFill>
                <a:latin typeface="Noto Sans KR" pitchFamily="34" charset="0"/>
                <a:ea typeface="Noto Sans KR" pitchFamily="34" charset="-122"/>
                <a:cs typeface="Noto Sans KR" pitchFamily="34" charset="-120"/>
              </a:rPr>
              <a:t>Weave</a:t>
            </a:r>
            <a:endParaRPr lang="en-US" sz="1783" dirty="0"/>
          </a:p>
        </p:txBody>
      </p:sp>
      <p:sp>
        <p:nvSpPr>
          <p:cNvPr id="35" name="Text 25"/>
          <p:cNvSpPr/>
          <p:nvPr/>
        </p:nvSpPr>
        <p:spPr>
          <a:xfrm>
            <a:off x="4907036" y="4899764"/>
            <a:ext cx="2377842" cy="234759"/>
          </a:xfrm>
          <a:prstGeom prst="rect">
            <a:avLst/>
          </a:prstGeom>
          <a:noFill/>
          <a:ln/>
        </p:spPr>
        <p:txBody>
          <a:bodyPr wrap="square" lIns="0" tIns="0" rIns="0" bIns="0" rtlCol="0" anchor="t">
            <a:normAutofit/>
          </a:bodyPr>
          <a:lstStyle/>
          <a:p>
            <a:pPr algn="ctr" indent="0" marL="0">
              <a:lnSpc>
                <a:spcPts val="1675"/>
              </a:lnSpc>
              <a:buNone/>
            </a:pPr>
            <a:r>
              <a:rPr lang="en-US" sz="1196" dirty="0">
                <a:solidFill>
                  <a:srgbClr val="4E4A57"/>
                </a:solidFill>
                <a:latin typeface="Noto Sans KR" pitchFamily="34" charset="0"/>
                <a:ea typeface="Noto Sans KR" pitchFamily="34" charset="-122"/>
                <a:cs typeface="Noto Sans KR" pitchFamily="34" charset="-120"/>
              </a:rPr>
              <a:t>남은 기록을 찾아, 지금의 입력에 연결</a:t>
            </a:r>
            <a:endParaRPr lang="en-US" sz="1196" dirty="0"/>
          </a:p>
        </p:txBody>
      </p:sp>
      <p:sp>
        <p:nvSpPr>
          <p:cNvPr id="36" name="Text 26"/>
          <p:cNvSpPr/>
          <p:nvPr/>
        </p:nvSpPr>
        <p:spPr>
          <a:xfrm>
            <a:off x="3198462" y="5397643"/>
            <a:ext cx="5795063" cy="622140"/>
          </a:xfrm>
          <a:prstGeom prst="rect">
            <a:avLst/>
          </a:prstGeom>
          <a:noFill/>
          <a:ln/>
        </p:spPr>
        <p:txBody>
          <a:bodyPr wrap="square" lIns="0" tIns="0" rIns="0" bIns="0" rtlCol="0" anchor="t">
            <a:normAutofit/>
          </a:bodyPr>
          <a:lstStyle/>
          <a:p>
            <a:pPr algn="ctr" indent="0" marL="0">
              <a:lnSpc>
                <a:spcPts val="2358"/>
              </a:lnSpc>
              <a:buNone/>
            </a:pPr>
            <a:r>
              <a:rPr lang="en-US" sz="1684" b="1" dirty="0">
                <a:solidFill>
                  <a:srgbClr val="1C1A24"/>
                </a:solidFill>
                <a:latin typeface="Noto Sans KR" pitchFamily="34" charset="0"/>
                <a:ea typeface="Noto Sans KR" pitchFamily="34" charset="-122"/>
                <a:cs typeface="Noto Sans KR" pitchFamily="34" charset="-120"/>
              </a:rPr>
              <a:t>Weave는 개인 기록을 더 많이 저장하는 것보다,</a:t>
            </a:r>
            <a:endParaRPr lang="en-US" sz="1684" dirty="0"/>
          </a:p>
          <a:p>
            <a:pPr algn="ctr" indent="0" marL="0">
              <a:lnSpc>
                <a:spcPts val="2358"/>
              </a:lnSpc>
              <a:buNone/>
            </a:pPr>
            <a:r>
              <a:rPr lang="en-US" sz="1684" b="1" dirty="0">
                <a:solidFill>
                  <a:srgbClr val="6B4EFF"/>
                </a:solidFill>
                <a:latin typeface="Noto Sans KR" pitchFamily="34" charset="0"/>
                <a:ea typeface="Noto Sans KR" pitchFamily="34" charset="-122"/>
                <a:cs typeface="Noto Sans KR" pitchFamily="34" charset="-120"/>
              </a:rPr>
              <a:t>이미 남아 있는 기록을 필요한 순간 꺼내 쓰는 과정</a:t>
            </a:r>
            <a:r>
              <a:rPr lang="en-US" sz="1684" b="1" dirty="0">
                <a:solidFill>
                  <a:srgbClr val="1C1A24"/>
                </a:solidFill>
                <a:latin typeface="Noto Sans KR" pitchFamily="34" charset="0"/>
                <a:ea typeface="Noto Sans KR" pitchFamily="34" charset="-122"/>
                <a:cs typeface="Noto Sans KR" pitchFamily="34" charset="-120"/>
              </a:rPr>
              <a:t>에 집중합니다.</a:t>
            </a:r>
            <a:endParaRPr lang="en-US" sz="1684" dirty="0"/>
          </a:p>
        </p:txBody>
      </p:sp>
      <p:sp>
        <p:nvSpPr>
          <p:cNvPr id="37" name="Text 27"/>
          <p:cNvSpPr/>
          <p:nvPr/>
        </p:nvSpPr>
        <p:spPr>
          <a:xfrm rot="21240000">
            <a:off x="10377021" y="3998272"/>
            <a:ext cx="1066800" cy="584200"/>
          </a:xfrm>
          <a:prstGeom prst="rect">
            <a:avLst/>
          </a:prstGeom>
          <a:noFill/>
          <a:ln/>
        </p:spPr>
        <p:txBody>
          <a:bodyPr wrap="square" lIns="0" tIns="0" rIns="0" bIns="0" rtlCol="0" anchor="t">
            <a:normAutofit/>
          </a:bodyPr>
          <a:lstStyle/>
          <a:p>
            <a:pPr algn="l" indent="0" marL="0">
              <a:lnSpc>
                <a:spcPts val="2205"/>
              </a:lnSpc>
              <a:buNone/>
            </a:pPr>
            <a:r>
              <a:rPr lang="en-US" sz="2100" dirty="0">
                <a:solidFill>
                  <a:srgbClr val="6B4EFF"/>
                </a:solidFill>
                <a:latin typeface="Nanum Pen Script" pitchFamily="34" charset="0"/>
                <a:ea typeface="Nanum Pen Script" pitchFamily="34" charset="-122"/>
                <a:cs typeface="Nanum Pen Script" pitchFamily="34" charset="-120"/>
              </a:rPr>
              <a:t>이제는</a:t>
            </a:r>
            <a:endParaRPr lang="en-US" sz="2100" dirty="0"/>
          </a:p>
          <a:p>
            <a:pPr algn="l" indent="0" marL="0">
              <a:lnSpc>
                <a:spcPts val="2205"/>
              </a:lnSpc>
              <a:buNone/>
            </a:pPr>
            <a:r>
              <a:rPr lang="en-US" sz="2100" dirty="0">
                <a:solidFill>
                  <a:srgbClr val="6B4EFF"/>
                </a:solidFill>
                <a:latin typeface="Nanum Pen Script" pitchFamily="34" charset="0"/>
                <a:ea typeface="Nanum Pen Script" pitchFamily="34" charset="-122"/>
                <a:cs typeface="Nanum Pen Script" pitchFamily="34" charset="-120"/>
              </a:rPr>
              <a:t>가능해요!</a:t>
            </a:r>
            <a:endParaRPr lang="en-US" sz="2100" dirty="0"/>
          </a:p>
        </p:txBody>
      </p:sp>
      <p:sp>
        <p:nvSpPr>
          <p:cNvPr id="38" name="Text 28"/>
          <p:cNvSpPr/>
          <p:nvPr/>
        </p:nvSpPr>
        <p:spPr>
          <a:xfrm>
            <a:off x="812737" y="6304317"/>
            <a:ext cx="5886450" cy="223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E88A0"/>
                </a:solidFill>
                <a:latin typeface="Noto Sans KR" pitchFamily="34" charset="0"/>
                <a:ea typeface="Noto Sans KR" pitchFamily="34" charset="-122"/>
                <a:cs typeface="Noto Sans KR" pitchFamily="34" charset="-120"/>
              </a:rPr>
              <a:t>Weave · for a richer tomorrow</a:t>
            </a:r>
            <a:endParaRPr lang="en-US" sz="1200" dirty="0"/>
          </a:p>
        </p:txBody>
      </p:sp>
      <p:sp>
        <p:nvSpPr>
          <p:cNvPr id="39" name="Text 29"/>
          <p:cNvSpPr/>
          <p:nvPr/>
        </p:nvSpPr>
        <p:spPr>
          <a:xfrm>
            <a:off x="10058449" y="6304317"/>
            <a:ext cx="1320800" cy="223481"/>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8E88A0"/>
                </a:solidFill>
                <a:latin typeface="Noto Sans KR" pitchFamily="34" charset="0"/>
                <a:ea typeface="Noto Sans KR" pitchFamily="34" charset="-122"/>
                <a:cs typeface="Noto Sans KR" pitchFamily="34" charset="-120"/>
              </a:rPr>
              <a:t>09</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CFF"/>
        </a:solidFill>
      </p:bgPr>
    </p:bg>
    <p:spTree>
      <p:nvGrpSpPr>
        <p:cNvPr id="1" name=""/>
        <p:cNvGrpSpPr/>
        <p:nvPr/>
      </p:nvGrpSpPr>
      <p:grpSpPr>
        <a:xfrm>
          <a:off x="0" y="0"/>
          <a:ext cx="0" cy="0"/>
          <a:chOff x="0" y="0"/>
          <a:chExt cx="0" cy="0"/>
        </a:xfrm>
      </p:grpSpPr>
      <p:sp>
        <p:nvSpPr>
          <p:cNvPr id="2" name="Shape 0"/>
          <p:cNvSpPr/>
          <p:nvPr/>
        </p:nvSpPr>
        <p:spPr>
          <a:xfrm>
            <a:off x="0" y="0"/>
            <a:ext cx="12191986" cy="6857943"/>
          </a:xfrm>
          <a:prstGeom prst="rect">
            <a:avLst/>
          </a:prstGeom>
          <a:gradFill rotWithShape="1">
            <a:gsLst>
              <a:gs pos="0">
                <a:srgbClr val="FDFCFF"/>
              </a:gs>
              <a:gs pos="50000">
                <a:srgbClr val="F8F5FF"/>
              </a:gs>
              <a:gs pos="100000">
                <a:srgbClr val="F2EDFF"/>
              </a:gs>
            </a:gsLst>
            <a:lin ang="4200000" scaled="0"/>
          </a:gradFill>
          <a:ln/>
        </p:spPr>
      </p:sp>
      <p:sp>
        <p:nvSpPr>
          <p:cNvPr id="3" name="Shape 1"/>
          <p:cNvSpPr/>
          <p:nvPr/>
        </p:nvSpPr>
        <p:spPr>
          <a:xfrm>
            <a:off x="6095957" y="0"/>
            <a:ext cx="6095957" cy="4825957"/>
          </a:xfrm>
          <a:prstGeom prst="rect">
            <a:avLst/>
          </a:prstGeom>
          <a:gradFill rotWithShape="1">
            <a:gsLst>
              <a:gs pos="0">
                <a:srgbClr val="FFE282">
                  <a:alpha val="42000"/>
                </a:srgbClr>
              </a:gs>
              <a:gs pos="30000">
                <a:srgbClr val="FFEEB9">
                  <a:alpha val="18000"/>
                </a:srgbClr>
              </a:gs>
              <a:gs pos="60000">
                <a:srgbClr val="FFFAEB">
                  <a:alpha val="0"/>
                </a:srgbClr>
              </a:gs>
            </a:gsLst>
            <a:path path="circle">
              <a:fillToRect l="85000" t="8000" r="15000" b="92000"/>
            </a:path>
          </a:gradFill>
          <a:ln/>
        </p:spPr>
      </p:sp>
      <p:sp>
        <p:nvSpPr>
          <p:cNvPr id="4" name="Shape 2"/>
          <p:cNvSpPr/>
          <p:nvPr/>
        </p:nvSpPr>
        <p:spPr>
          <a:xfrm>
            <a:off x="0" y="3555957"/>
            <a:ext cx="5715000" cy="3301986"/>
          </a:xfrm>
          <a:prstGeom prst="rect">
            <a:avLst/>
          </a:prstGeom>
          <a:gradFill rotWithShape="1">
            <a:gsLst>
              <a:gs pos="0">
                <a:srgbClr val="BAA6FF">
                  <a:alpha val="34000"/>
                </a:srgbClr>
              </a:gs>
              <a:gs pos="40000">
                <a:srgbClr val="DCD0FF">
                  <a:alpha val="16000"/>
                </a:srgbClr>
              </a:gs>
              <a:gs pos="72000">
                <a:srgbClr val="F8F5FF">
                  <a:alpha val="0"/>
                </a:srgbClr>
              </a:gs>
            </a:gsLst>
            <a:path path="circle">
              <a:fillToRect l="12000" t="88000" r="88000" b="12000"/>
            </a:path>
          </a:gradFill>
          <a:ln/>
        </p:spPr>
      </p:sp>
      <p:sp>
        <p:nvSpPr>
          <p:cNvPr id="5" name="Text 3"/>
          <p:cNvSpPr/>
          <p:nvPr/>
        </p:nvSpPr>
        <p:spPr>
          <a:xfrm>
            <a:off x="5176273" y="355546"/>
            <a:ext cx="1839369" cy="223481"/>
          </a:xfrm>
          <a:prstGeom prst="rect">
            <a:avLst/>
          </a:prstGeom>
          <a:noFill/>
          <a:ln/>
        </p:spPr>
        <p:txBody>
          <a:bodyPr wrap="square" lIns="0" tIns="0" rIns="0" bIns="0" rtlCol="0" anchor="t">
            <a:normAutofit/>
          </a:bodyPr>
          <a:lstStyle/>
          <a:p>
            <a:pPr algn="ctr" indent="0" marL="0">
              <a:lnSpc>
                <a:spcPts val="1560"/>
              </a:lnSpc>
              <a:buNone/>
            </a:pPr>
            <a:r>
              <a:rPr lang="en-US" sz="1200" b="1" spc="50" kern="0" dirty="0">
                <a:solidFill>
                  <a:srgbClr val="6B4EFF"/>
                </a:solidFill>
                <a:latin typeface="Noto Sans KR" pitchFamily="34" charset="0"/>
                <a:ea typeface="Noto Sans KR" pitchFamily="34" charset="-122"/>
                <a:cs typeface="Noto Sans KR" pitchFamily="34" charset="-120"/>
              </a:rPr>
              <a:t>10 / DIFFERENTIATION</a:t>
            </a:r>
            <a:endParaRPr lang="en-US" sz="1200" dirty="0"/>
          </a:p>
        </p:txBody>
      </p:sp>
      <p:sp>
        <p:nvSpPr>
          <p:cNvPr id="6" name="Text 4"/>
          <p:cNvSpPr/>
          <p:nvPr/>
        </p:nvSpPr>
        <p:spPr>
          <a:xfrm>
            <a:off x="1979692" y="642494"/>
            <a:ext cx="8232531" cy="421633"/>
          </a:xfrm>
          <a:prstGeom prst="rect">
            <a:avLst/>
          </a:prstGeom>
          <a:noFill/>
          <a:ln/>
        </p:spPr>
        <p:txBody>
          <a:bodyPr wrap="square" lIns="0" tIns="0" rIns="0" bIns="0" rtlCol="0" anchor="t">
            <a:normAutofit/>
          </a:bodyPr>
          <a:lstStyle/>
          <a:p>
            <a:pPr algn="ctr" indent="0" marL="0">
              <a:lnSpc>
                <a:spcPts val="3120"/>
              </a:lnSpc>
              <a:buNone/>
            </a:pPr>
            <a:r>
              <a:rPr lang="en-US" sz="2600" b="1" spc="-50" kern="0" dirty="0">
                <a:solidFill>
                  <a:srgbClr val="1C1A24"/>
                </a:solidFill>
                <a:latin typeface="Noto Sans KR" pitchFamily="34" charset="0"/>
                <a:ea typeface="Noto Sans KR" pitchFamily="34" charset="-122"/>
                <a:cs typeface="Noto Sans KR" pitchFamily="34" charset="-120"/>
              </a:rPr>
              <a:t>기능 중심의 AI를 넘어, 나의 맥락을 잇는 </a:t>
            </a:r>
            <a:r>
              <a:rPr lang="en-US" sz="2600" b="1" spc="-50" kern="0" dirty="0">
                <a:solidFill>
                  <a:srgbClr val="6B4EFF"/>
                </a:solidFill>
                <a:latin typeface="Noto Sans KR" pitchFamily="34" charset="0"/>
                <a:ea typeface="Noto Sans KR" pitchFamily="34" charset="-122"/>
                <a:cs typeface="Noto Sans KR" pitchFamily="34" charset="-120"/>
              </a:rPr>
              <a:t>'Contextual AI'</a:t>
            </a:r>
            <a:r>
              <a:rPr lang="en-US" sz="2600" b="1" spc="-50" kern="0" dirty="0">
                <a:solidFill>
                  <a:srgbClr val="1C1A24"/>
                </a:solidFill>
                <a:latin typeface="Noto Sans KR" pitchFamily="34" charset="0"/>
                <a:ea typeface="Noto Sans KR" pitchFamily="34" charset="-122"/>
                <a:cs typeface="Noto Sans KR" pitchFamily="34" charset="-120"/>
              </a:rPr>
              <a:t>로</a:t>
            </a:r>
            <a:endParaRPr lang="en-US" sz="2600" dirty="0"/>
          </a:p>
        </p:txBody>
      </p:sp>
      <p:sp>
        <p:nvSpPr>
          <p:cNvPr id="7" name="Text 5"/>
          <p:cNvSpPr/>
          <p:nvPr/>
        </p:nvSpPr>
        <p:spPr>
          <a:xfrm>
            <a:off x="1640314" y="1127596"/>
            <a:ext cx="8911358" cy="25653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5B5866"/>
                </a:solidFill>
                <a:latin typeface="Noto Sans KR" pitchFamily="34" charset="0"/>
                <a:ea typeface="Noto Sans KR" pitchFamily="34" charset="-122"/>
                <a:cs typeface="Noto Sans KR" pitchFamily="34" charset="-120"/>
              </a:rPr>
              <a:t>단일 앱의 장벽에 갇힌 기존 AI 서비스들과 달리, Weave는 단말 전체의 데이터를 유기적으로 연결하여 사용자 경험을 제공합니다.</a:t>
            </a:r>
            <a:endParaRPr lang="en-US" sz="1300" dirty="0"/>
          </a:p>
        </p:txBody>
      </p:sp>
      <p:sp>
        <p:nvSpPr>
          <p:cNvPr id="8" name="Shape 6"/>
          <p:cNvSpPr/>
          <p:nvPr/>
        </p:nvSpPr>
        <p:spPr>
          <a:xfrm>
            <a:off x="815984" y="1501592"/>
            <a:ext cx="10560019" cy="3974321"/>
          </a:xfrm>
          <a:prstGeom prst="roundRect">
            <a:avLst>
              <a:gd name="adj" fmla="val 4394"/>
            </a:avLst>
          </a:prstGeom>
          <a:solidFill>
            <a:srgbClr val="FFFFFF">
              <a:alpha val="90000"/>
            </a:srgbClr>
          </a:solidFill>
          <a:ln w="6350">
            <a:solidFill>
              <a:srgbClr val="E4DDF7"/>
            </a:solidFill>
            <a:prstDash val="solid"/>
          </a:ln>
          <a:effectLst>
            <a:outerShdw sx="100000" sy="100000" kx="0" ky="0" algn="bl" rotWithShape="0" blurRad="317500" dist="127000" dir="5400000">
              <a:srgbClr val="6B4EFF">
                <a:alpha val="8000"/>
              </a:srgbClr>
            </a:outerShdw>
          </a:effectLst>
        </p:spPr>
      </p:sp>
      <p:sp>
        <p:nvSpPr>
          <p:cNvPr id="9" name="Shape 7"/>
          <p:cNvSpPr/>
          <p:nvPr/>
        </p:nvSpPr>
        <p:spPr>
          <a:xfrm>
            <a:off x="995114" y="2121570"/>
            <a:ext cx="10201758" cy="0"/>
          </a:xfrm>
          <a:prstGeom prst="line">
            <a:avLst/>
          </a:prstGeom>
          <a:noFill/>
          <a:ln w="12700">
            <a:solidFill>
              <a:srgbClr val="D9D0F5"/>
            </a:solidFill>
            <a:prstDash val="solid"/>
          </a:ln>
        </p:spPr>
      </p:sp>
      <p:sp>
        <p:nvSpPr>
          <p:cNvPr id="10" name="Text 8"/>
          <p:cNvSpPr/>
          <p:nvPr/>
        </p:nvSpPr>
        <p:spPr>
          <a:xfrm>
            <a:off x="1045866" y="1737184"/>
            <a:ext cx="1219297" cy="223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8E88A0"/>
                </a:solidFill>
                <a:latin typeface="Noto Sans KR" pitchFamily="34" charset="0"/>
                <a:ea typeface="Noto Sans KR" pitchFamily="34" charset="-122"/>
                <a:cs typeface="Noto Sans KR" pitchFamily="34" charset="-120"/>
              </a:rPr>
              <a:t>서비스명</a:t>
            </a:r>
            <a:endParaRPr lang="en-US" sz="1200" dirty="0"/>
          </a:p>
        </p:txBody>
      </p:sp>
      <p:sp>
        <p:nvSpPr>
          <p:cNvPr id="11" name="Text 9"/>
          <p:cNvSpPr/>
          <p:nvPr/>
        </p:nvSpPr>
        <p:spPr>
          <a:xfrm>
            <a:off x="2788201" y="1629899"/>
            <a:ext cx="1173971" cy="438121"/>
          </a:xfrm>
          <a:prstGeom prst="rect">
            <a:avLst/>
          </a:prstGeom>
          <a:noFill/>
          <a:ln/>
        </p:spPr>
        <p:txBody>
          <a:bodyPr wrap="square" lIns="0" tIns="0" rIns="0" bIns="0" rtlCol="0" anchor="t">
            <a:normAutofit/>
          </a:bodyPr>
          <a:lstStyle/>
          <a:p>
            <a:pPr algn="ctr" indent="0" marL="0">
              <a:lnSpc>
                <a:spcPts val="1625"/>
              </a:lnSpc>
              <a:buNone/>
            </a:pPr>
            <a:r>
              <a:rPr lang="en-US" sz="1300" b="1" dirty="0">
                <a:solidFill>
                  <a:srgbClr val="1C1A24"/>
                </a:solidFill>
                <a:latin typeface="Noto Sans KR" pitchFamily="34" charset="0"/>
                <a:ea typeface="Noto Sans KR" pitchFamily="34" charset="-122"/>
                <a:cs typeface="Noto Sans KR" pitchFamily="34" charset="-120"/>
              </a:rPr>
              <a:t>Samsung</a:t>
            </a:r>
            <a:endParaRPr lang="en-US" sz="1300" dirty="0"/>
          </a:p>
          <a:p>
            <a:pPr algn="ctr" indent="0" marL="0">
              <a:lnSpc>
                <a:spcPts val="1625"/>
              </a:lnSpc>
              <a:buNone/>
            </a:pPr>
            <a:r>
              <a:rPr lang="en-US" sz="1300" b="1" dirty="0">
                <a:solidFill>
                  <a:srgbClr val="1C1A24"/>
                </a:solidFill>
                <a:latin typeface="Noto Sans KR" pitchFamily="34" charset="0"/>
                <a:ea typeface="Noto Sans KR" pitchFamily="34" charset="-122"/>
                <a:cs typeface="Noto Sans KR" pitchFamily="34" charset="-120"/>
              </a:rPr>
              <a:t>Writing Assist</a:t>
            </a:r>
            <a:endParaRPr lang="en-US" sz="1300" dirty="0"/>
          </a:p>
        </p:txBody>
      </p:sp>
      <p:sp>
        <p:nvSpPr>
          <p:cNvPr id="12" name="Text 10"/>
          <p:cNvSpPr/>
          <p:nvPr/>
        </p:nvSpPr>
        <p:spPr>
          <a:xfrm>
            <a:off x="5099356" y="1629899"/>
            <a:ext cx="992236" cy="438121"/>
          </a:xfrm>
          <a:prstGeom prst="rect">
            <a:avLst/>
          </a:prstGeom>
          <a:noFill/>
          <a:ln/>
        </p:spPr>
        <p:txBody>
          <a:bodyPr wrap="square" lIns="0" tIns="0" rIns="0" bIns="0" rtlCol="0" anchor="t">
            <a:normAutofit/>
          </a:bodyPr>
          <a:lstStyle/>
          <a:p>
            <a:pPr algn="ctr" indent="0" marL="0">
              <a:lnSpc>
                <a:spcPts val="1625"/>
              </a:lnSpc>
              <a:buNone/>
            </a:pPr>
            <a:r>
              <a:rPr lang="en-US" sz="1300" b="1" dirty="0">
                <a:solidFill>
                  <a:srgbClr val="1C1A24"/>
                </a:solidFill>
                <a:latin typeface="Noto Sans KR" pitchFamily="34" charset="0"/>
                <a:ea typeface="Noto Sans KR" pitchFamily="34" charset="-122"/>
                <a:cs typeface="Noto Sans KR" pitchFamily="34" charset="-120"/>
              </a:rPr>
              <a:t>Samsung</a:t>
            </a:r>
            <a:endParaRPr lang="en-US" sz="1300" dirty="0"/>
          </a:p>
          <a:p>
            <a:pPr algn="ctr" indent="0" marL="0">
              <a:lnSpc>
                <a:spcPts val="1625"/>
              </a:lnSpc>
              <a:buNone/>
            </a:pPr>
            <a:r>
              <a:rPr lang="en-US" sz="1300" b="1" dirty="0">
                <a:solidFill>
                  <a:srgbClr val="1C1A24"/>
                </a:solidFill>
                <a:latin typeface="Noto Sans KR" pitchFamily="34" charset="0"/>
                <a:ea typeface="Noto Sans KR" pitchFamily="34" charset="-122"/>
                <a:cs typeface="Noto Sans KR" pitchFamily="34" charset="-120"/>
              </a:rPr>
              <a:t>Now Nudge</a:t>
            </a:r>
            <a:endParaRPr lang="en-US" sz="1300" dirty="0"/>
          </a:p>
        </p:txBody>
      </p:sp>
      <p:sp>
        <p:nvSpPr>
          <p:cNvPr id="13" name="Text 11"/>
          <p:cNvSpPr/>
          <p:nvPr/>
        </p:nvSpPr>
        <p:spPr>
          <a:xfrm>
            <a:off x="7267322" y="1629899"/>
            <a:ext cx="1096808" cy="438121"/>
          </a:xfrm>
          <a:prstGeom prst="rect">
            <a:avLst/>
          </a:prstGeom>
          <a:noFill/>
          <a:ln/>
        </p:spPr>
        <p:txBody>
          <a:bodyPr wrap="square" lIns="0" tIns="0" rIns="0" bIns="0" rtlCol="0" anchor="t">
            <a:normAutofit/>
          </a:bodyPr>
          <a:lstStyle/>
          <a:p>
            <a:pPr algn="ctr" indent="0" marL="0">
              <a:lnSpc>
                <a:spcPts val="1625"/>
              </a:lnSpc>
              <a:buNone/>
            </a:pPr>
            <a:r>
              <a:rPr lang="en-US" sz="1300" b="1" dirty="0">
                <a:solidFill>
                  <a:srgbClr val="1C1A24"/>
                </a:solidFill>
                <a:latin typeface="Noto Sans KR" pitchFamily="34" charset="0"/>
                <a:ea typeface="Noto Sans KR" pitchFamily="34" charset="-122"/>
                <a:cs typeface="Noto Sans KR" pitchFamily="34" charset="-120"/>
              </a:rPr>
              <a:t>Kanana</a:t>
            </a:r>
            <a:endParaRPr lang="en-US" sz="1300" dirty="0"/>
          </a:p>
          <a:p>
            <a:pPr algn="ctr" indent="0" marL="0">
              <a:lnSpc>
                <a:spcPts val="1625"/>
              </a:lnSpc>
              <a:buNone/>
            </a:pPr>
            <a:r>
              <a:rPr lang="en-US" sz="1300" b="1" dirty="0">
                <a:solidFill>
                  <a:srgbClr val="1C1A24"/>
                </a:solidFill>
                <a:latin typeface="Noto Sans KR" pitchFamily="34" charset="0"/>
                <a:ea typeface="Noto Sans KR" pitchFamily="34" charset="-122"/>
                <a:cs typeface="Noto Sans KR" pitchFamily="34" charset="-120"/>
              </a:rPr>
              <a:t>in KakaoTalk</a:t>
            </a:r>
            <a:endParaRPr lang="en-US" sz="1300" dirty="0"/>
          </a:p>
        </p:txBody>
      </p:sp>
      <p:sp>
        <p:nvSpPr>
          <p:cNvPr id="14" name="Shape 12"/>
          <p:cNvSpPr/>
          <p:nvPr/>
        </p:nvSpPr>
        <p:spPr>
          <a:xfrm>
            <a:off x="8925833" y="1553736"/>
            <a:ext cx="2271039" cy="565047"/>
          </a:xfrm>
          <a:custGeom>
            <a:avLst/>
            <a:gdLst/>
            <a:ahLst/>
            <a:cxnLst/>
            <a:rect l="l" t="t" r="r" b="b"/>
            <a:pathLst>
              <a:path w="2271039" h="565047">
                <a:moveTo>
                  <a:pt x="127000" y="0"/>
                </a:moveTo>
                <a:lnTo>
                  <a:pt x="2144039" y="0"/>
                </a:lnTo>
                <a:arcTo hR="127000" wR="127000" stAng="16200000" swAng="5400000"/>
                <a:lnTo>
                  <a:pt x="2271039" y="565047"/>
                </a:lnTo>
                <a:lnTo>
                  <a:pt x="0" y="565047"/>
                </a:lnTo>
                <a:lnTo>
                  <a:pt x="0" y="127000"/>
                </a:lnTo>
                <a:arcTo hR="127000" wR="127000" stAng="10800000" swAng="5400000"/>
                <a:close/>
              </a:path>
            </a:pathLst>
          </a:custGeom>
          <a:solidFill>
            <a:srgbClr val="6B4EFF"/>
          </a:solidFill>
          <a:ln/>
        </p:spPr>
      </p:sp>
      <p:sp>
        <p:nvSpPr>
          <p:cNvPr id="15" name="Text 13"/>
          <p:cNvSpPr/>
          <p:nvPr/>
        </p:nvSpPr>
        <p:spPr>
          <a:xfrm>
            <a:off x="9705390" y="1714342"/>
            <a:ext cx="711925" cy="269235"/>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FFFFFF"/>
                </a:solidFill>
                <a:latin typeface="Noto Sans KR" pitchFamily="34" charset="0"/>
                <a:ea typeface="Noto Sans KR" pitchFamily="34" charset="-122"/>
                <a:cs typeface="Noto Sans KR" pitchFamily="34" charset="-120"/>
              </a:rPr>
              <a:t>Weave</a:t>
            </a:r>
            <a:endParaRPr lang="en-US" sz="1600" dirty="0"/>
          </a:p>
        </p:txBody>
      </p:sp>
      <p:sp>
        <p:nvSpPr>
          <p:cNvPr id="16" name="Shape 14"/>
          <p:cNvSpPr/>
          <p:nvPr/>
        </p:nvSpPr>
        <p:spPr>
          <a:xfrm>
            <a:off x="995114" y="2504990"/>
            <a:ext cx="10201758" cy="0"/>
          </a:xfrm>
          <a:prstGeom prst="line">
            <a:avLst/>
          </a:prstGeom>
          <a:noFill/>
          <a:ln w="6350">
            <a:solidFill>
              <a:srgbClr val="E4DDF7"/>
            </a:solidFill>
            <a:prstDash val="solid"/>
          </a:ln>
        </p:spPr>
      </p:sp>
      <p:sp>
        <p:nvSpPr>
          <p:cNvPr id="17" name="Text 15"/>
          <p:cNvSpPr/>
          <p:nvPr/>
        </p:nvSpPr>
        <p:spPr>
          <a:xfrm>
            <a:off x="1045866" y="2216717"/>
            <a:ext cx="1219297" cy="223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C1A24"/>
                </a:solidFill>
                <a:latin typeface="Noto Sans KR" pitchFamily="34" charset="0"/>
                <a:ea typeface="Noto Sans KR" pitchFamily="34" charset="-122"/>
                <a:cs typeface="Noto Sans KR" pitchFamily="34" charset="-120"/>
              </a:rPr>
              <a:t>유형</a:t>
            </a:r>
            <a:endParaRPr lang="en-US" sz="1200" dirty="0"/>
          </a:p>
        </p:txBody>
      </p:sp>
      <p:sp>
        <p:nvSpPr>
          <p:cNvPr id="18" name="Shape 16"/>
          <p:cNvSpPr/>
          <p:nvPr/>
        </p:nvSpPr>
        <p:spPr>
          <a:xfrm>
            <a:off x="2858928" y="2178672"/>
            <a:ext cx="1045295" cy="274172"/>
          </a:xfrm>
          <a:prstGeom prst="roundRect">
            <a:avLst>
              <a:gd name="adj" fmla="val 50000"/>
            </a:avLst>
          </a:prstGeom>
          <a:solidFill>
            <a:srgbClr val="EEEBF4"/>
          </a:solidFill>
          <a:ln/>
        </p:spPr>
      </p:sp>
      <p:sp>
        <p:nvSpPr>
          <p:cNvPr id="19" name="Text 17"/>
          <p:cNvSpPr/>
          <p:nvPr/>
        </p:nvSpPr>
        <p:spPr>
          <a:xfrm>
            <a:off x="2960528" y="2216772"/>
            <a:ext cx="842095" cy="223372"/>
          </a:xfrm>
          <a:prstGeom prst="rect">
            <a:avLst/>
          </a:prstGeom>
          <a:noFill/>
          <a:ln/>
        </p:spPr>
        <p:txBody>
          <a:bodyPr wrap="square" lIns="0" tIns="0" rIns="0" bIns="0" rtlCol="0" anchor="t">
            <a:normAutofit/>
          </a:bodyPr>
          <a:lstStyle/>
          <a:p>
            <a:pPr algn="ctr" indent="0" marL="0">
              <a:lnSpc>
                <a:spcPts val="1560"/>
              </a:lnSpc>
              <a:buNone/>
            </a:pPr>
            <a:r>
              <a:rPr lang="en-US" sz="1200" b="1" dirty="0">
                <a:solidFill>
                  <a:srgbClr val="5B5866"/>
                </a:solidFill>
                <a:latin typeface="Noto Sans KR" pitchFamily="34" charset="0"/>
                <a:ea typeface="Noto Sans KR" pitchFamily="34" charset="-122"/>
                <a:cs typeface="Noto Sans KR" pitchFamily="34" charset="-120"/>
              </a:rPr>
              <a:t>생성·교정형</a:t>
            </a:r>
            <a:endParaRPr lang="en-US" sz="1200" dirty="0"/>
          </a:p>
        </p:txBody>
      </p:sp>
      <p:sp>
        <p:nvSpPr>
          <p:cNvPr id="20" name="Shape 18"/>
          <p:cNvSpPr/>
          <p:nvPr/>
        </p:nvSpPr>
        <p:spPr>
          <a:xfrm>
            <a:off x="5119688" y="2178672"/>
            <a:ext cx="989618" cy="274172"/>
          </a:xfrm>
          <a:prstGeom prst="roundRect">
            <a:avLst>
              <a:gd name="adj" fmla="val 50000"/>
            </a:avLst>
          </a:prstGeom>
          <a:solidFill>
            <a:srgbClr val="EEEBF4"/>
          </a:solidFill>
          <a:ln/>
        </p:spPr>
      </p:sp>
      <p:sp>
        <p:nvSpPr>
          <p:cNvPr id="21" name="Text 19"/>
          <p:cNvSpPr/>
          <p:nvPr/>
        </p:nvSpPr>
        <p:spPr>
          <a:xfrm>
            <a:off x="5221288" y="2216772"/>
            <a:ext cx="786418" cy="223372"/>
          </a:xfrm>
          <a:prstGeom prst="rect">
            <a:avLst/>
          </a:prstGeom>
          <a:noFill/>
          <a:ln/>
        </p:spPr>
        <p:txBody>
          <a:bodyPr wrap="square" lIns="0" tIns="0" rIns="0" bIns="0" rtlCol="0" anchor="t">
            <a:normAutofit/>
          </a:bodyPr>
          <a:lstStyle/>
          <a:p>
            <a:pPr algn="ctr" indent="0" marL="0">
              <a:lnSpc>
                <a:spcPts val="1560"/>
              </a:lnSpc>
              <a:buNone/>
            </a:pPr>
            <a:r>
              <a:rPr lang="en-US" sz="1200" b="1" dirty="0">
                <a:solidFill>
                  <a:srgbClr val="5B5866"/>
                </a:solidFill>
                <a:latin typeface="Noto Sans KR" pitchFamily="34" charset="0"/>
                <a:ea typeface="Noto Sans KR" pitchFamily="34" charset="-122"/>
                <a:cs typeface="Noto Sans KR" pitchFamily="34" charset="-120"/>
              </a:rPr>
              <a:t>상황 인지형</a:t>
            </a:r>
            <a:endParaRPr lang="en-US" sz="1200" dirty="0"/>
          </a:p>
        </p:txBody>
      </p:sp>
      <p:sp>
        <p:nvSpPr>
          <p:cNvPr id="22" name="Shape 20"/>
          <p:cNvSpPr/>
          <p:nvPr/>
        </p:nvSpPr>
        <p:spPr>
          <a:xfrm>
            <a:off x="7335335" y="2178672"/>
            <a:ext cx="1024237" cy="274172"/>
          </a:xfrm>
          <a:prstGeom prst="roundRect">
            <a:avLst>
              <a:gd name="adj" fmla="val 50000"/>
            </a:avLst>
          </a:prstGeom>
          <a:solidFill>
            <a:srgbClr val="EEEBF4"/>
          </a:solidFill>
          <a:ln/>
        </p:spPr>
      </p:sp>
      <p:sp>
        <p:nvSpPr>
          <p:cNvPr id="23" name="Text 21"/>
          <p:cNvSpPr/>
          <p:nvPr/>
        </p:nvSpPr>
        <p:spPr>
          <a:xfrm>
            <a:off x="7436935" y="2216772"/>
            <a:ext cx="821037" cy="223372"/>
          </a:xfrm>
          <a:prstGeom prst="rect">
            <a:avLst/>
          </a:prstGeom>
          <a:noFill/>
          <a:ln/>
        </p:spPr>
        <p:txBody>
          <a:bodyPr wrap="square" lIns="0" tIns="0" rIns="0" bIns="0" rtlCol="0" anchor="t">
            <a:normAutofit/>
          </a:bodyPr>
          <a:lstStyle/>
          <a:p>
            <a:pPr algn="ctr" indent="0" marL="0">
              <a:lnSpc>
                <a:spcPts val="1560"/>
              </a:lnSpc>
              <a:buNone/>
            </a:pPr>
            <a:r>
              <a:rPr lang="en-US" sz="1200" b="1" dirty="0">
                <a:solidFill>
                  <a:srgbClr val="5B5866"/>
                </a:solidFill>
                <a:latin typeface="Noto Sans KR" pitchFamily="34" charset="0"/>
                <a:ea typeface="Noto Sans KR" pitchFamily="34" charset="-122"/>
                <a:cs typeface="Noto Sans KR" pitchFamily="34" charset="-120"/>
              </a:rPr>
              <a:t>단일 앱 특화</a:t>
            </a:r>
            <a:endParaRPr lang="en-US" sz="1200" dirty="0"/>
          </a:p>
        </p:txBody>
      </p:sp>
      <p:sp>
        <p:nvSpPr>
          <p:cNvPr id="24" name="Shape 22"/>
          <p:cNvSpPr/>
          <p:nvPr/>
        </p:nvSpPr>
        <p:spPr>
          <a:xfrm>
            <a:off x="8963951" y="2127921"/>
            <a:ext cx="2232922" cy="375675"/>
          </a:xfrm>
          <a:prstGeom prst="rect">
            <a:avLst/>
          </a:prstGeom>
          <a:solidFill>
            <a:srgbClr val="F1ECFF"/>
          </a:solidFill>
          <a:ln/>
        </p:spPr>
      </p:sp>
      <p:sp>
        <p:nvSpPr>
          <p:cNvPr id="25" name="Shape 23"/>
          <p:cNvSpPr/>
          <p:nvPr/>
        </p:nvSpPr>
        <p:spPr>
          <a:xfrm>
            <a:off x="9585531" y="2178672"/>
            <a:ext cx="989761" cy="274172"/>
          </a:xfrm>
          <a:prstGeom prst="roundRect">
            <a:avLst>
              <a:gd name="adj" fmla="val 50000"/>
            </a:avLst>
          </a:prstGeom>
          <a:solidFill>
            <a:srgbClr val="6B4EFF"/>
          </a:solidFill>
          <a:ln/>
        </p:spPr>
      </p:sp>
      <p:sp>
        <p:nvSpPr>
          <p:cNvPr id="26" name="Text 24"/>
          <p:cNvSpPr/>
          <p:nvPr/>
        </p:nvSpPr>
        <p:spPr>
          <a:xfrm>
            <a:off x="9687131" y="2216772"/>
            <a:ext cx="786561" cy="223372"/>
          </a:xfrm>
          <a:prstGeom prst="rect">
            <a:avLst/>
          </a:prstGeom>
          <a:noFill/>
          <a:ln/>
        </p:spPr>
        <p:txBody>
          <a:bodyPr wrap="square" lIns="0" tIns="0" rIns="0" bIns="0" rtlCol="0" anchor="t">
            <a:normAutofit/>
          </a:bodyPr>
          <a:lstStyle/>
          <a:p>
            <a:pPr algn="ctr" indent="0" marL="0">
              <a:lnSpc>
                <a:spcPts val="1560"/>
              </a:lnSpc>
              <a:buNone/>
            </a:pPr>
            <a:r>
              <a:rPr lang="en-US" sz="1200" b="1" dirty="0">
                <a:solidFill>
                  <a:srgbClr val="FFFFFF"/>
                </a:solidFill>
                <a:latin typeface="Noto Sans KR" pitchFamily="34" charset="0"/>
                <a:ea typeface="Noto Sans KR" pitchFamily="34" charset="-122"/>
                <a:cs typeface="Noto Sans KR" pitchFamily="34" charset="-120"/>
              </a:rPr>
              <a:t>맥락 맞춤형</a:t>
            </a:r>
            <a:endParaRPr lang="en-US" sz="1200" dirty="0"/>
          </a:p>
        </p:txBody>
      </p:sp>
      <p:sp>
        <p:nvSpPr>
          <p:cNvPr id="27" name="Shape 25"/>
          <p:cNvSpPr/>
          <p:nvPr/>
        </p:nvSpPr>
        <p:spPr>
          <a:xfrm>
            <a:off x="995114" y="3037771"/>
            <a:ext cx="10201758" cy="0"/>
          </a:xfrm>
          <a:prstGeom prst="line">
            <a:avLst/>
          </a:prstGeom>
          <a:noFill/>
          <a:ln w="6350">
            <a:solidFill>
              <a:srgbClr val="E4DDF7"/>
            </a:solidFill>
            <a:prstDash val="solid"/>
          </a:ln>
        </p:spPr>
      </p:sp>
      <p:sp>
        <p:nvSpPr>
          <p:cNvPr id="28" name="Text 26"/>
          <p:cNvSpPr/>
          <p:nvPr/>
        </p:nvSpPr>
        <p:spPr>
          <a:xfrm>
            <a:off x="1045866" y="2673195"/>
            <a:ext cx="1219297" cy="223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C1A24"/>
                </a:solidFill>
                <a:latin typeface="Noto Sans KR" pitchFamily="34" charset="0"/>
                <a:ea typeface="Noto Sans KR" pitchFamily="34" charset="-122"/>
                <a:cs typeface="Noto Sans KR" pitchFamily="34" charset="-120"/>
              </a:rPr>
              <a:t>핵심 역할</a:t>
            </a:r>
            <a:endParaRPr lang="en-US" sz="1200" dirty="0"/>
          </a:p>
        </p:txBody>
      </p:sp>
      <p:sp>
        <p:nvSpPr>
          <p:cNvPr id="29" name="Text 27"/>
          <p:cNvSpPr/>
          <p:nvPr/>
        </p:nvSpPr>
        <p:spPr>
          <a:xfrm>
            <a:off x="2810115" y="2558915"/>
            <a:ext cx="1142920" cy="45211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E4A57"/>
                </a:solidFill>
                <a:latin typeface="Noto Sans KR" pitchFamily="34" charset="0"/>
                <a:ea typeface="Noto Sans KR" pitchFamily="34" charset="-122"/>
                <a:cs typeface="Noto Sans KR" pitchFamily="34" charset="-120"/>
              </a:rPr>
              <a:t>입력 문장의 생성,</a:t>
            </a:r>
            <a:endParaRPr lang="en-US" sz="1200" dirty="0"/>
          </a:p>
          <a:p>
            <a:pPr algn="ctr" indent="0" marL="0">
              <a:lnSpc>
                <a:spcPts val="1680"/>
              </a:lnSpc>
              <a:buNone/>
            </a:pPr>
            <a:r>
              <a:rPr lang="en-US" sz="1200" dirty="0">
                <a:solidFill>
                  <a:srgbClr val="4E4A57"/>
                </a:solidFill>
                <a:latin typeface="Noto Sans KR" pitchFamily="34" charset="0"/>
                <a:ea typeface="Noto Sans KR" pitchFamily="34" charset="-122"/>
                <a:cs typeface="Noto Sans KR" pitchFamily="34" charset="-120"/>
              </a:rPr>
              <a:t>번역, 교정</a:t>
            </a:r>
            <a:endParaRPr lang="en-US" sz="1200" dirty="0"/>
          </a:p>
        </p:txBody>
      </p:sp>
      <p:sp>
        <p:nvSpPr>
          <p:cNvPr id="30" name="Text 28"/>
          <p:cNvSpPr/>
          <p:nvPr/>
        </p:nvSpPr>
        <p:spPr>
          <a:xfrm>
            <a:off x="5134332" y="2558915"/>
            <a:ext cx="960329" cy="45211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E4A57"/>
                </a:solidFill>
                <a:latin typeface="Noto Sans KR" pitchFamily="34" charset="0"/>
                <a:ea typeface="Noto Sans KR" pitchFamily="34" charset="-122"/>
                <a:cs typeface="Noto Sans KR" pitchFamily="34" charset="-120"/>
              </a:rPr>
              <a:t>필요한 정보와</a:t>
            </a:r>
            <a:endParaRPr lang="en-US" sz="1200" dirty="0"/>
          </a:p>
          <a:p>
            <a:pPr algn="ctr" indent="0" marL="0">
              <a:lnSpc>
                <a:spcPts val="1680"/>
              </a:lnSpc>
              <a:buNone/>
            </a:pPr>
            <a:r>
              <a:rPr lang="en-US" sz="1200" dirty="0">
                <a:solidFill>
                  <a:srgbClr val="4E4A57"/>
                </a:solidFill>
                <a:latin typeface="Noto Sans KR" pitchFamily="34" charset="0"/>
                <a:ea typeface="Noto Sans KR" pitchFamily="34" charset="-122"/>
                <a:cs typeface="Noto Sans KR" pitchFamily="34" charset="-120"/>
              </a:rPr>
              <a:t>연관 행동 안내</a:t>
            </a:r>
            <a:endParaRPr lang="en-US" sz="1200" dirty="0"/>
          </a:p>
        </p:txBody>
      </p:sp>
      <p:sp>
        <p:nvSpPr>
          <p:cNvPr id="31" name="Text 29"/>
          <p:cNvSpPr/>
          <p:nvPr/>
        </p:nvSpPr>
        <p:spPr>
          <a:xfrm>
            <a:off x="7192943" y="2558915"/>
            <a:ext cx="1309022" cy="45211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E4A57"/>
                </a:solidFill>
                <a:latin typeface="Noto Sans KR" pitchFamily="34" charset="0"/>
                <a:ea typeface="Noto Sans KR" pitchFamily="34" charset="-122"/>
                <a:cs typeface="Noto Sans KR" pitchFamily="34" charset="-120"/>
              </a:rPr>
              <a:t>단일 앱 내 대화 요약</a:t>
            </a:r>
            <a:endParaRPr lang="en-US" sz="1200" dirty="0"/>
          </a:p>
          <a:p>
            <a:pPr algn="ctr" indent="0" marL="0">
              <a:lnSpc>
                <a:spcPts val="1680"/>
              </a:lnSpc>
              <a:buNone/>
            </a:pPr>
            <a:r>
              <a:rPr lang="en-US" sz="1200" dirty="0">
                <a:solidFill>
                  <a:srgbClr val="4E4A57"/>
                </a:solidFill>
                <a:latin typeface="Noto Sans KR" pitchFamily="34" charset="0"/>
                <a:ea typeface="Noto Sans KR" pitchFamily="34" charset="-122"/>
                <a:cs typeface="Noto Sans KR" pitchFamily="34" charset="-120"/>
              </a:rPr>
              <a:t>및 일정 알림</a:t>
            </a:r>
            <a:endParaRPr lang="en-US" sz="1200" dirty="0"/>
          </a:p>
        </p:txBody>
      </p:sp>
      <p:sp>
        <p:nvSpPr>
          <p:cNvPr id="32" name="Shape 30"/>
          <p:cNvSpPr/>
          <p:nvPr/>
        </p:nvSpPr>
        <p:spPr>
          <a:xfrm>
            <a:off x="8963951" y="2508163"/>
            <a:ext cx="2232922" cy="528215"/>
          </a:xfrm>
          <a:prstGeom prst="rect">
            <a:avLst/>
          </a:prstGeom>
          <a:solidFill>
            <a:srgbClr val="F1ECFF"/>
          </a:solidFill>
          <a:ln/>
        </p:spPr>
      </p:sp>
      <p:sp>
        <p:nvSpPr>
          <p:cNvPr id="33" name="Text 31"/>
          <p:cNvSpPr/>
          <p:nvPr/>
        </p:nvSpPr>
        <p:spPr>
          <a:xfrm>
            <a:off x="9302019" y="2558915"/>
            <a:ext cx="1556712" cy="452112"/>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C1A24"/>
                </a:solidFill>
                <a:latin typeface="Noto Sans KR" pitchFamily="34" charset="0"/>
                <a:ea typeface="Noto Sans KR" pitchFamily="34" charset="-122"/>
                <a:cs typeface="Noto Sans KR" pitchFamily="34" charset="-120"/>
              </a:rPr>
              <a:t>기기 전체에 흩어진 기록</a:t>
            </a:r>
            <a:endParaRPr lang="en-US" sz="1200" dirty="0"/>
          </a:p>
          <a:p>
            <a:pPr algn="ctr" indent="0" marL="0">
              <a:lnSpc>
                <a:spcPts val="1680"/>
              </a:lnSpc>
              <a:buNone/>
            </a:pPr>
            <a:r>
              <a:rPr lang="en-US" sz="1200" b="1" dirty="0">
                <a:solidFill>
                  <a:srgbClr val="1C1A24"/>
                </a:solidFill>
                <a:latin typeface="Noto Sans KR" pitchFamily="34" charset="0"/>
                <a:ea typeface="Noto Sans KR" pitchFamily="34" charset="-122"/>
                <a:cs typeface="Noto Sans KR" pitchFamily="34" charset="-120"/>
              </a:rPr>
              <a:t>연결 및 선제적 제안</a:t>
            </a:r>
            <a:endParaRPr lang="en-US" sz="1200" dirty="0"/>
          </a:p>
        </p:txBody>
      </p:sp>
      <p:sp>
        <p:nvSpPr>
          <p:cNvPr id="34" name="Shape 32"/>
          <p:cNvSpPr/>
          <p:nvPr/>
        </p:nvSpPr>
        <p:spPr>
          <a:xfrm>
            <a:off x="995114" y="3570556"/>
            <a:ext cx="10201758" cy="0"/>
          </a:xfrm>
          <a:prstGeom prst="line">
            <a:avLst/>
          </a:prstGeom>
          <a:noFill/>
          <a:ln w="6350">
            <a:solidFill>
              <a:srgbClr val="E4DDF7"/>
            </a:solidFill>
            <a:prstDash val="solid"/>
          </a:ln>
        </p:spPr>
      </p:sp>
      <p:sp>
        <p:nvSpPr>
          <p:cNvPr id="35" name="Text 33"/>
          <p:cNvSpPr/>
          <p:nvPr/>
        </p:nvSpPr>
        <p:spPr>
          <a:xfrm>
            <a:off x="1045866" y="3205978"/>
            <a:ext cx="1219297" cy="223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C1A24"/>
                </a:solidFill>
                <a:latin typeface="Noto Sans KR" pitchFamily="34" charset="0"/>
                <a:ea typeface="Noto Sans KR" pitchFamily="34" charset="-122"/>
                <a:cs typeface="Noto Sans KR" pitchFamily="34" charset="-120"/>
              </a:rPr>
              <a:t>활용 데이터</a:t>
            </a:r>
            <a:endParaRPr lang="en-US" sz="1200" dirty="0"/>
          </a:p>
        </p:txBody>
      </p:sp>
      <p:sp>
        <p:nvSpPr>
          <p:cNvPr id="36" name="Text 34"/>
          <p:cNvSpPr/>
          <p:nvPr/>
        </p:nvSpPr>
        <p:spPr>
          <a:xfrm>
            <a:off x="2673993" y="3091698"/>
            <a:ext cx="1415094" cy="45211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E4A57"/>
                </a:solidFill>
                <a:latin typeface="Noto Sans KR" pitchFamily="34" charset="0"/>
                <a:ea typeface="Noto Sans KR" pitchFamily="34" charset="-122"/>
                <a:cs typeface="Noto Sans KR" pitchFamily="34" charset="-120"/>
              </a:rPr>
              <a:t>현재 입력 중인 텍스트</a:t>
            </a:r>
            <a:endParaRPr lang="en-US" sz="1200" dirty="0"/>
          </a:p>
          <a:p>
            <a:pPr algn="ctr" indent="0" marL="0">
              <a:lnSpc>
                <a:spcPts val="1680"/>
              </a:lnSpc>
              <a:buNone/>
            </a:pPr>
            <a:r>
              <a:rPr lang="en-US" sz="1200" dirty="0">
                <a:solidFill>
                  <a:srgbClr val="4E4A57"/>
                </a:solidFill>
                <a:latin typeface="Noto Sans KR" pitchFamily="34" charset="0"/>
                <a:ea typeface="Noto Sans KR" pitchFamily="34" charset="-122"/>
                <a:cs typeface="Noto Sans KR" pitchFamily="34" charset="-120"/>
              </a:rPr>
              <a:t>및 대화 화면</a:t>
            </a:r>
            <a:endParaRPr lang="en-US" sz="1200" dirty="0"/>
          </a:p>
        </p:txBody>
      </p:sp>
      <p:sp>
        <p:nvSpPr>
          <p:cNvPr id="37" name="Text 35"/>
          <p:cNvSpPr/>
          <p:nvPr/>
        </p:nvSpPr>
        <p:spPr>
          <a:xfrm>
            <a:off x="4773290" y="3091698"/>
            <a:ext cx="1682413" cy="45211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E4A57"/>
                </a:solidFill>
                <a:latin typeface="Noto Sans KR" pitchFamily="34" charset="0"/>
                <a:ea typeface="Noto Sans KR" pitchFamily="34" charset="-122"/>
                <a:cs typeface="Noto Sans KR" pitchFamily="34" charset="-120"/>
              </a:rPr>
              <a:t>일정, 사진, 대화, 스크린샷</a:t>
            </a:r>
            <a:endParaRPr lang="en-US" sz="1200" dirty="0"/>
          </a:p>
          <a:p>
            <a:pPr algn="ctr" indent="0" marL="0">
              <a:lnSpc>
                <a:spcPts val="1680"/>
              </a:lnSpc>
              <a:buNone/>
            </a:pPr>
            <a:r>
              <a:rPr lang="en-US" sz="1200" dirty="0">
                <a:solidFill>
                  <a:srgbClr val="4E4A57"/>
                </a:solidFill>
                <a:latin typeface="Noto Sans KR" pitchFamily="34" charset="0"/>
                <a:ea typeface="Noto Sans KR" pitchFamily="34" charset="-122"/>
                <a:cs typeface="Noto Sans KR" pitchFamily="34" charset="-120"/>
              </a:rPr>
              <a:t>등 저장 정보</a:t>
            </a:r>
            <a:endParaRPr lang="en-US" sz="1200" dirty="0"/>
          </a:p>
        </p:txBody>
      </p:sp>
      <p:sp>
        <p:nvSpPr>
          <p:cNvPr id="38" name="Text 36"/>
          <p:cNvSpPr/>
          <p:nvPr/>
        </p:nvSpPr>
        <p:spPr>
          <a:xfrm>
            <a:off x="7210003" y="3091698"/>
            <a:ext cx="1274902" cy="45211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E4A57"/>
                </a:solidFill>
                <a:latin typeface="Noto Sans KR" pitchFamily="34" charset="0"/>
                <a:ea typeface="Noto Sans KR" pitchFamily="34" charset="-122"/>
                <a:cs typeface="Noto Sans KR" pitchFamily="34" charset="-120"/>
              </a:rPr>
              <a:t>자사 메신저 대화 및</a:t>
            </a:r>
            <a:endParaRPr lang="en-US" sz="1200" dirty="0"/>
          </a:p>
          <a:p>
            <a:pPr algn="ctr" indent="0" marL="0">
              <a:lnSpc>
                <a:spcPts val="1680"/>
              </a:lnSpc>
              <a:buNone/>
            </a:pPr>
            <a:r>
              <a:rPr lang="en-US" sz="1200" dirty="0">
                <a:solidFill>
                  <a:srgbClr val="4E4A57"/>
                </a:solidFill>
                <a:latin typeface="Noto Sans KR" pitchFamily="34" charset="0"/>
                <a:ea typeface="Noto Sans KR" pitchFamily="34" charset="-122"/>
                <a:cs typeface="Noto Sans KR" pitchFamily="34" charset="-120"/>
              </a:rPr>
              <a:t>연동 서비스 정보</a:t>
            </a:r>
            <a:endParaRPr lang="en-US" sz="1200" dirty="0"/>
          </a:p>
        </p:txBody>
      </p:sp>
      <p:sp>
        <p:nvSpPr>
          <p:cNvPr id="39" name="Shape 37"/>
          <p:cNvSpPr/>
          <p:nvPr/>
        </p:nvSpPr>
        <p:spPr>
          <a:xfrm>
            <a:off x="8963951" y="3040948"/>
            <a:ext cx="2232922" cy="528215"/>
          </a:xfrm>
          <a:prstGeom prst="rect">
            <a:avLst/>
          </a:prstGeom>
          <a:solidFill>
            <a:srgbClr val="F1ECFF"/>
          </a:solidFill>
          <a:ln/>
        </p:spPr>
      </p:sp>
      <p:sp>
        <p:nvSpPr>
          <p:cNvPr id="40" name="Text 38"/>
          <p:cNvSpPr/>
          <p:nvPr/>
        </p:nvSpPr>
        <p:spPr>
          <a:xfrm>
            <a:off x="9245058" y="3091698"/>
            <a:ext cx="1670707" cy="452112"/>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C1A24"/>
                </a:solidFill>
                <a:latin typeface="Noto Sans KR" pitchFamily="34" charset="0"/>
                <a:ea typeface="Noto Sans KR" pitchFamily="34" charset="-122"/>
                <a:cs typeface="Noto Sans KR" pitchFamily="34" charset="-120"/>
              </a:rPr>
              <a:t>갤러리, 삼성노트, 캘린더,</a:t>
            </a:r>
            <a:endParaRPr lang="en-US" sz="1200" dirty="0"/>
          </a:p>
          <a:p>
            <a:pPr algn="ctr" indent="0" marL="0">
              <a:lnSpc>
                <a:spcPts val="1680"/>
              </a:lnSpc>
              <a:buNone/>
            </a:pPr>
            <a:r>
              <a:rPr lang="en-US" sz="1200" b="1" dirty="0">
                <a:solidFill>
                  <a:srgbClr val="1C1A24"/>
                </a:solidFill>
                <a:latin typeface="Noto Sans KR" pitchFamily="34" charset="0"/>
                <a:ea typeface="Noto Sans KR" pitchFamily="34" charset="-122"/>
                <a:cs typeface="Noto Sans KR" pitchFamily="34" charset="-120"/>
              </a:rPr>
              <a:t>문자 등 시스템 전반</a:t>
            </a:r>
            <a:endParaRPr lang="en-US" sz="1200" dirty="0"/>
          </a:p>
        </p:txBody>
      </p:sp>
      <p:sp>
        <p:nvSpPr>
          <p:cNvPr id="41" name="Shape 39"/>
          <p:cNvSpPr/>
          <p:nvPr/>
        </p:nvSpPr>
        <p:spPr>
          <a:xfrm>
            <a:off x="995114" y="4103339"/>
            <a:ext cx="10201758" cy="0"/>
          </a:xfrm>
          <a:prstGeom prst="line">
            <a:avLst/>
          </a:prstGeom>
          <a:noFill/>
          <a:ln w="6350">
            <a:solidFill>
              <a:srgbClr val="E4DDF7"/>
            </a:solidFill>
            <a:prstDash val="solid"/>
          </a:ln>
        </p:spPr>
      </p:sp>
      <p:sp>
        <p:nvSpPr>
          <p:cNvPr id="42" name="Text 40"/>
          <p:cNvSpPr/>
          <p:nvPr/>
        </p:nvSpPr>
        <p:spPr>
          <a:xfrm>
            <a:off x="1045866" y="3738762"/>
            <a:ext cx="1219297" cy="223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C1A24"/>
                </a:solidFill>
                <a:latin typeface="Noto Sans KR" pitchFamily="34" charset="0"/>
                <a:ea typeface="Noto Sans KR" pitchFamily="34" charset="-122"/>
                <a:cs typeface="Noto Sans KR" pitchFamily="34" charset="-120"/>
              </a:rPr>
              <a:t>데이터 처리</a:t>
            </a:r>
            <a:endParaRPr lang="en-US" sz="1200" dirty="0"/>
          </a:p>
        </p:txBody>
      </p:sp>
      <p:sp>
        <p:nvSpPr>
          <p:cNvPr id="43" name="Text 41"/>
          <p:cNvSpPr/>
          <p:nvPr/>
        </p:nvSpPr>
        <p:spPr>
          <a:xfrm>
            <a:off x="2643799" y="3624483"/>
            <a:ext cx="1475481" cy="45211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E4A57"/>
                </a:solidFill>
                <a:latin typeface="Noto Sans KR" pitchFamily="34" charset="0"/>
                <a:ea typeface="Noto Sans KR" pitchFamily="34" charset="-122"/>
                <a:cs typeface="Noto Sans KR" pitchFamily="34" charset="-120"/>
              </a:rPr>
              <a:t>하이브리드</a:t>
            </a:r>
            <a:endParaRPr lang="en-US" sz="1200" dirty="0"/>
          </a:p>
          <a:p>
            <a:pPr algn="ctr" indent="0" marL="0">
              <a:lnSpc>
                <a:spcPts val="1680"/>
              </a:lnSpc>
              <a:buNone/>
            </a:pPr>
            <a:r>
              <a:rPr lang="en-US" sz="1200" dirty="0">
                <a:solidFill>
                  <a:srgbClr val="4E4A57"/>
                </a:solidFill>
                <a:latin typeface="Noto Sans KR" pitchFamily="34" charset="0"/>
                <a:ea typeface="Noto Sans KR" pitchFamily="34" charset="-122"/>
                <a:cs typeface="Noto Sans KR" pitchFamily="34" charset="-120"/>
              </a:rPr>
              <a:t>(온디바이스/클라우드)</a:t>
            </a:r>
            <a:endParaRPr lang="en-US" sz="1200" dirty="0"/>
          </a:p>
        </p:txBody>
      </p:sp>
      <p:sp>
        <p:nvSpPr>
          <p:cNvPr id="44" name="Text 42"/>
          <p:cNvSpPr/>
          <p:nvPr/>
        </p:nvSpPr>
        <p:spPr>
          <a:xfrm>
            <a:off x="5081296" y="3731124"/>
            <a:ext cx="1066400" cy="238756"/>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E4A57"/>
                </a:solidFill>
                <a:latin typeface="Noto Sans KR" pitchFamily="34" charset="0"/>
                <a:ea typeface="Noto Sans KR" pitchFamily="34" charset="-122"/>
                <a:cs typeface="Noto Sans KR" pitchFamily="34" charset="-120"/>
              </a:rPr>
              <a:t>온디바이스 중심</a:t>
            </a:r>
            <a:endParaRPr lang="en-US" sz="1200" dirty="0"/>
          </a:p>
        </p:txBody>
      </p:sp>
      <p:sp>
        <p:nvSpPr>
          <p:cNvPr id="45" name="Text 43"/>
          <p:cNvSpPr/>
          <p:nvPr/>
        </p:nvSpPr>
        <p:spPr>
          <a:xfrm>
            <a:off x="6894574" y="3624483"/>
            <a:ext cx="1905832" cy="45211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E4A57"/>
                </a:solidFill>
                <a:latin typeface="Noto Sans KR" pitchFamily="34" charset="0"/>
                <a:ea typeface="Noto Sans KR" pitchFamily="34" charset="-122"/>
                <a:cs typeface="Noto Sans KR" pitchFamily="34" charset="-120"/>
              </a:rPr>
              <a:t>대화 내용은 온디바이스</a:t>
            </a:r>
            <a:endParaRPr lang="en-US" sz="1200" dirty="0"/>
          </a:p>
          <a:p>
            <a:pPr algn="ctr" indent="0" marL="0">
              <a:lnSpc>
                <a:spcPts val="1680"/>
              </a:lnSpc>
              <a:buNone/>
            </a:pPr>
            <a:r>
              <a:rPr lang="en-US" sz="1200" dirty="0">
                <a:solidFill>
                  <a:srgbClr val="4E4A57"/>
                </a:solidFill>
                <a:latin typeface="Noto Sans KR" pitchFamily="34" charset="0"/>
                <a:ea typeface="Noto Sans KR" pitchFamily="34" charset="-122"/>
                <a:cs typeface="Noto Sans KR" pitchFamily="34" charset="-120"/>
              </a:rPr>
              <a:t>요약 생성은 외부 AI 활용 가능</a:t>
            </a:r>
            <a:endParaRPr lang="en-US" sz="1200" dirty="0"/>
          </a:p>
        </p:txBody>
      </p:sp>
      <p:sp>
        <p:nvSpPr>
          <p:cNvPr id="46" name="Shape 44"/>
          <p:cNvSpPr/>
          <p:nvPr/>
        </p:nvSpPr>
        <p:spPr>
          <a:xfrm>
            <a:off x="8963951" y="3573731"/>
            <a:ext cx="2232922" cy="528215"/>
          </a:xfrm>
          <a:prstGeom prst="rect">
            <a:avLst/>
          </a:prstGeom>
          <a:solidFill>
            <a:srgbClr val="F1ECFF"/>
          </a:solidFill>
          <a:ln/>
        </p:spPr>
      </p:sp>
      <p:sp>
        <p:nvSpPr>
          <p:cNvPr id="47" name="Text 45"/>
          <p:cNvSpPr/>
          <p:nvPr/>
        </p:nvSpPr>
        <p:spPr>
          <a:xfrm>
            <a:off x="9675268" y="3730554"/>
            <a:ext cx="810287" cy="239969"/>
          </a:xfrm>
          <a:prstGeom prst="rect">
            <a:avLst/>
          </a:prstGeom>
          <a:noFill/>
          <a:ln/>
        </p:spPr>
        <p:txBody>
          <a:bodyPr wrap="square" lIns="0" tIns="0" rIns="0" bIns="0" rtlCol="0" anchor="t">
            <a:normAutofit/>
          </a:bodyPr>
          <a:lstStyle/>
          <a:p>
            <a:pPr algn="ctr" indent="0" marL="0">
              <a:lnSpc>
                <a:spcPts val="1690"/>
              </a:lnSpc>
              <a:buNone/>
            </a:pPr>
            <a:r>
              <a:rPr lang="en-US" sz="1300" b="1" dirty="0">
                <a:solidFill>
                  <a:srgbClr val="6B4EFF"/>
                </a:solidFill>
                <a:latin typeface="Noto Sans KR" pitchFamily="34" charset="0"/>
                <a:ea typeface="Noto Sans KR" pitchFamily="34" charset="-122"/>
                <a:cs typeface="Noto Sans KR" pitchFamily="34" charset="-120"/>
              </a:rPr>
              <a:t>온디바이스</a:t>
            </a:r>
            <a:endParaRPr lang="en-US" sz="1300" dirty="0"/>
          </a:p>
        </p:txBody>
      </p:sp>
      <p:sp>
        <p:nvSpPr>
          <p:cNvPr id="48" name="Shape 46"/>
          <p:cNvSpPr/>
          <p:nvPr/>
        </p:nvSpPr>
        <p:spPr>
          <a:xfrm>
            <a:off x="995114" y="4642332"/>
            <a:ext cx="10201758" cy="0"/>
          </a:xfrm>
          <a:prstGeom prst="line">
            <a:avLst/>
          </a:prstGeom>
          <a:noFill/>
          <a:ln w="6350">
            <a:solidFill>
              <a:srgbClr val="E4DDF7"/>
            </a:solidFill>
            <a:prstDash val="solid"/>
          </a:ln>
        </p:spPr>
      </p:sp>
      <p:sp>
        <p:nvSpPr>
          <p:cNvPr id="49" name="Text 47"/>
          <p:cNvSpPr/>
          <p:nvPr/>
        </p:nvSpPr>
        <p:spPr>
          <a:xfrm>
            <a:off x="1045866" y="4175610"/>
            <a:ext cx="1219297" cy="42156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C1A24"/>
                </a:solidFill>
                <a:latin typeface="Noto Sans KR" pitchFamily="34" charset="0"/>
                <a:ea typeface="Noto Sans KR" pitchFamily="34" charset="-122"/>
                <a:cs typeface="Noto Sans KR" pitchFamily="34" charset="-120"/>
              </a:rPr>
              <a:t>앱 간 연계</a:t>
            </a:r>
            <a:endParaRPr lang="en-US" sz="1200" dirty="0"/>
          </a:p>
          <a:p>
            <a:pPr algn="l" indent="0" marL="0">
              <a:lnSpc>
                <a:spcPts val="1560"/>
              </a:lnSpc>
              <a:buNone/>
            </a:pPr>
            <a:r>
              <a:rPr lang="en-US" sz="1200" b="1" dirty="0">
                <a:solidFill>
                  <a:srgbClr val="1C1A24"/>
                </a:solidFill>
                <a:latin typeface="Noto Sans KR" pitchFamily="34" charset="0"/>
                <a:ea typeface="Noto Sans KR" pitchFamily="34" charset="-122"/>
                <a:cs typeface="Noto Sans KR" pitchFamily="34" charset="-120"/>
              </a:rPr>
              <a:t>(Cross-App)</a:t>
            </a:r>
            <a:endParaRPr lang="en-US" sz="1200" dirty="0"/>
          </a:p>
        </p:txBody>
      </p:sp>
      <p:sp>
        <p:nvSpPr>
          <p:cNvPr id="50" name="Text 48"/>
          <p:cNvSpPr/>
          <p:nvPr/>
        </p:nvSpPr>
        <p:spPr>
          <a:xfrm>
            <a:off x="3128329" y="4266406"/>
            <a:ext cx="506492" cy="239969"/>
          </a:xfrm>
          <a:prstGeom prst="rect">
            <a:avLst/>
          </a:prstGeom>
          <a:noFill/>
          <a:ln/>
        </p:spPr>
        <p:txBody>
          <a:bodyPr wrap="square" lIns="0" tIns="0" rIns="0" bIns="0" rtlCol="0" anchor="t">
            <a:normAutofit/>
          </a:bodyPr>
          <a:lstStyle/>
          <a:p>
            <a:pPr algn="ctr" indent="0" marL="0">
              <a:lnSpc>
                <a:spcPts val="1690"/>
              </a:lnSpc>
              <a:buNone/>
            </a:pPr>
            <a:r>
              <a:rPr lang="en-US" sz="1300" b="1" dirty="0">
                <a:solidFill>
                  <a:srgbClr val="1C1A24"/>
                </a:solidFill>
                <a:latin typeface="Noto Sans KR" pitchFamily="34" charset="0"/>
                <a:ea typeface="Noto Sans KR" pitchFamily="34" charset="-122"/>
                <a:cs typeface="Noto Sans KR" pitchFamily="34" charset="-120"/>
              </a:rPr>
              <a:t>불가능</a:t>
            </a:r>
            <a:endParaRPr lang="en-US" sz="1300" dirty="0"/>
          </a:p>
        </p:txBody>
      </p:sp>
      <p:sp>
        <p:nvSpPr>
          <p:cNvPr id="51" name="Text 49"/>
          <p:cNvSpPr/>
          <p:nvPr/>
        </p:nvSpPr>
        <p:spPr>
          <a:xfrm>
            <a:off x="5437199" y="4157266"/>
            <a:ext cx="354595" cy="239969"/>
          </a:xfrm>
          <a:prstGeom prst="rect">
            <a:avLst/>
          </a:prstGeom>
          <a:noFill/>
          <a:ln/>
        </p:spPr>
        <p:txBody>
          <a:bodyPr wrap="square" lIns="0" tIns="0" rIns="0" bIns="0" rtlCol="0" anchor="t">
            <a:normAutofit/>
          </a:bodyPr>
          <a:lstStyle/>
          <a:p>
            <a:pPr algn="ctr" indent="0" marL="0">
              <a:lnSpc>
                <a:spcPts val="1690"/>
              </a:lnSpc>
              <a:buNone/>
            </a:pPr>
            <a:r>
              <a:rPr lang="en-US" sz="1300" b="1" dirty="0">
                <a:solidFill>
                  <a:srgbClr val="1C1A24"/>
                </a:solidFill>
                <a:latin typeface="Noto Sans KR" pitchFamily="34" charset="0"/>
                <a:ea typeface="Noto Sans KR" pitchFamily="34" charset="-122"/>
                <a:cs typeface="Noto Sans KR" pitchFamily="34" charset="-120"/>
              </a:rPr>
              <a:t>가능</a:t>
            </a:r>
            <a:endParaRPr lang="en-US" sz="1300" dirty="0"/>
          </a:p>
        </p:txBody>
      </p:sp>
      <p:sp>
        <p:nvSpPr>
          <p:cNvPr id="52" name="Text 50"/>
          <p:cNvSpPr/>
          <p:nvPr/>
        </p:nvSpPr>
        <p:spPr>
          <a:xfrm>
            <a:off x="4651214" y="4384469"/>
            <a:ext cx="1926565" cy="231118"/>
          </a:xfrm>
          <a:prstGeom prst="rect">
            <a:avLst/>
          </a:prstGeom>
          <a:noFill/>
          <a:ln/>
        </p:spPr>
        <p:txBody>
          <a:bodyPr wrap="square" lIns="0" tIns="0" rIns="0" bIns="0" rtlCol="0" anchor="t">
            <a:normAutofit/>
          </a:bodyPr>
          <a:lstStyle/>
          <a:p>
            <a:pPr algn="ctr" indent="0" marL="0">
              <a:lnSpc>
                <a:spcPts val="1620"/>
              </a:lnSpc>
              <a:buNone/>
            </a:pPr>
            <a:r>
              <a:rPr lang="en-US" sz="1200" dirty="0">
                <a:solidFill>
                  <a:srgbClr val="7A7486"/>
                </a:solidFill>
                <a:latin typeface="Noto Sans KR" pitchFamily="34" charset="0"/>
                <a:ea typeface="Noto Sans KR" pitchFamily="34" charset="-122"/>
                <a:cs typeface="Noto Sans KR" pitchFamily="34" charset="-120"/>
              </a:rPr>
              <a:t>단순 정보 조회·자동입력 수준</a:t>
            </a:r>
            <a:endParaRPr lang="en-US" sz="1200" dirty="0"/>
          </a:p>
        </p:txBody>
      </p:sp>
      <p:sp>
        <p:nvSpPr>
          <p:cNvPr id="53" name="Text 51"/>
          <p:cNvSpPr/>
          <p:nvPr/>
        </p:nvSpPr>
        <p:spPr>
          <a:xfrm>
            <a:off x="7594243" y="4157266"/>
            <a:ext cx="506492" cy="239969"/>
          </a:xfrm>
          <a:prstGeom prst="rect">
            <a:avLst/>
          </a:prstGeom>
          <a:noFill/>
          <a:ln/>
        </p:spPr>
        <p:txBody>
          <a:bodyPr wrap="square" lIns="0" tIns="0" rIns="0" bIns="0" rtlCol="0" anchor="t">
            <a:normAutofit/>
          </a:bodyPr>
          <a:lstStyle/>
          <a:p>
            <a:pPr algn="ctr" indent="0" marL="0">
              <a:lnSpc>
                <a:spcPts val="1690"/>
              </a:lnSpc>
              <a:buNone/>
            </a:pPr>
            <a:r>
              <a:rPr lang="en-US" sz="1300" b="1" dirty="0">
                <a:solidFill>
                  <a:srgbClr val="1C1A24"/>
                </a:solidFill>
                <a:latin typeface="Noto Sans KR" pitchFamily="34" charset="0"/>
                <a:ea typeface="Noto Sans KR" pitchFamily="34" charset="-122"/>
                <a:cs typeface="Noto Sans KR" pitchFamily="34" charset="-120"/>
              </a:rPr>
              <a:t>제한적</a:t>
            </a:r>
            <a:endParaRPr lang="en-US" sz="1300" dirty="0"/>
          </a:p>
        </p:txBody>
      </p:sp>
      <p:sp>
        <p:nvSpPr>
          <p:cNvPr id="54" name="Text 52"/>
          <p:cNvSpPr/>
          <p:nvPr/>
        </p:nvSpPr>
        <p:spPr>
          <a:xfrm>
            <a:off x="7297158" y="4384469"/>
            <a:ext cx="1100592" cy="231118"/>
          </a:xfrm>
          <a:prstGeom prst="rect">
            <a:avLst/>
          </a:prstGeom>
          <a:noFill/>
          <a:ln/>
        </p:spPr>
        <p:txBody>
          <a:bodyPr wrap="square" lIns="0" tIns="0" rIns="0" bIns="0" rtlCol="0" anchor="t">
            <a:normAutofit/>
          </a:bodyPr>
          <a:lstStyle/>
          <a:p>
            <a:pPr algn="ctr" indent="0" marL="0">
              <a:lnSpc>
                <a:spcPts val="1620"/>
              </a:lnSpc>
              <a:buNone/>
            </a:pPr>
            <a:r>
              <a:rPr lang="en-US" sz="1200" dirty="0">
                <a:solidFill>
                  <a:srgbClr val="7A7486"/>
                </a:solidFill>
                <a:latin typeface="Noto Sans KR" pitchFamily="34" charset="0"/>
                <a:ea typeface="Noto Sans KR" pitchFamily="34" charset="-122"/>
                <a:cs typeface="Noto Sans KR" pitchFamily="34" charset="-120"/>
              </a:rPr>
              <a:t>자사 생태계 위주</a:t>
            </a:r>
            <a:endParaRPr lang="en-US" sz="1200" dirty="0"/>
          </a:p>
        </p:txBody>
      </p:sp>
      <p:sp>
        <p:nvSpPr>
          <p:cNvPr id="55" name="Shape 53"/>
          <p:cNvSpPr/>
          <p:nvPr/>
        </p:nvSpPr>
        <p:spPr>
          <a:xfrm>
            <a:off x="8963951" y="4106514"/>
            <a:ext cx="2232922" cy="534425"/>
          </a:xfrm>
          <a:prstGeom prst="rect">
            <a:avLst/>
          </a:prstGeom>
          <a:solidFill>
            <a:srgbClr val="F1ECFF"/>
          </a:solidFill>
          <a:ln/>
        </p:spPr>
      </p:sp>
      <p:sp>
        <p:nvSpPr>
          <p:cNvPr id="56" name="Text 54"/>
          <p:cNvSpPr/>
          <p:nvPr/>
        </p:nvSpPr>
        <p:spPr>
          <a:xfrm>
            <a:off x="9903113" y="4157266"/>
            <a:ext cx="354595" cy="239969"/>
          </a:xfrm>
          <a:prstGeom prst="rect">
            <a:avLst/>
          </a:prstGeom>
          <a:noFill/>
          <a:ln/>
        </p:spPr>
        <p:txBody>
          <a:bodyPr wrap="square" lIns="0" tIns="0" rIns="0" bIns="0" rtlCol="0" anchor="t">
            <a:normAutofit/>
          </a:bodyPr>
          <a:lstStyle/>
          <a:p>
            <a:pPr algn="ctr" indent="0" marL="0">
              <a:lnSpc>
                <a:spcPts val="1690"/>
              </a:lnSpc>
              <a:buNone/>
            </a:pPr>
            <a:r>
              <a:rPr lang="en-US" sz="1300" b="1" dirty="0">
                <a:solidFill>
                  <a:srgbClr val="6B4EFF"/>
                </a:solidFill>
                <a:latin typeface="Noto Sans KR" pitchFamily="34" charset="0"/>
                <a:ea typeface="Noto Sans KR" pitchFamily="34" charset="-122"/>
                <a:cs typeface="Noto Sans KR" pitchFamily="34" charset="-120"/>
              </a:rPr>
              <a:t>가능</a:t>
            </a:r>
            <a:endParaRPr lang="en-US" sz="1300" dirty="0"/>
          </a:p>
        </p:txBody>
      </p:sp>
      <p:sp>
        <p:nvSpPr>
          <p:cNvPr id="57" name="Text 55"/>
          <p:cNvSpPr/>
          <p:nvPr/>
        </p:nvSpPr>
        <p:spPr>
          <a:xfrm>
            <a:off x="9302733" y="4384469"/>
            <a:ext cx="1555356" cy="231118"/>
          </a:xfrm>
          <a:prstGeom prst="rect">
            <a:avLst/>
          </a:prstGeom>
          <a:noFill/>
          <a:ln/>
        </p:spPr>
        <p:txBody>
          <a:bodyPr wrap="square" lIns="0" tIns="0" rIns="0" bIns="0" rtlCol="0" anchor="t">
            <a:normAutofit/>
          </a:bodyPr>
          <a:lstStyle/>
          <a:p>
            <a:pPr algn="ctr" indent="0" marL="0">
              <a:lnSpc>
                <a:spcPts val="1620"/>
              </a:lnSpc>
              <a:buNone/>
            </a:pPr>
            <a:r>
              <a:rPr lang="en-US" sz="1200" dirty="0">
                <a:solidFill>
                  <a:srgbClr val="4E4A57"/>
                </a:solidFill>
                <a:latin typeface="Noto Sans KR" pitchFamily="34" charset="0"/>
                <a:ea typeface="Noto Sans KR" pitchFamily="34" charset="-122"/>
                <a:cs typeface="Noto Sans KR" pitchFamily="34" charset="-120"/>
              </a:rPr>
              <a:t>컨텍스트 기반 연쇄 탐색</a:t>
            </a:r>
            <a:endParaRPr lang="en-US" sz="1200" dirty="0"/>
          </a:p>
        </p:txBody>
      </p:sp>
      <p:sp>
        <p:nvSpPr>
          <p:cNvPr id="58" name="Text 56"/>
          <p:cNvSpPr/>
          <p:nvPr/>
        </p:nvSpPr>
        <p:spPr>
          <a:xfrm>
            <a:off x="1045866" y="4817463"/>
            <a:ext cx="1219297" cy="42156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C1A24"/>
                </a:solidFill>
                <a:latin typeface="Noto Sans KR" pitchFamily="34" charset="0"/>
                <a:ea typeface="Noto Sans KR" pitchFamily="34" charset="-122"/>
                <a:cs typeface="Noto Sans KR" pitchFamily="34" charset="-120"/>
              </a:rPr>
              <a:t>상황 맞춤형</a:t>
            </a:r>
            <a:endParaRPr lang="en-US" sz="1200" dirty="0"/>
          </a:p>
          <a:p>
            <a:pPr algn="l" indent="0" marL="0">
              <a:lnSpc>
                <a:spcPts val="1560"/>
              </a:lnSpc>
              <a:buNone/>
            </a:pPr>
            <a:r>
              <a:rPr lang="en-US" sz="1200" b="1" dirty="0">
                <a:solidFill>
                  <a:srgbClr val="1C1A24"/>
                </a:solidFill>
                <a:latin typeface="Noto Sans KR" pitchFamily="34" charset="0"/>
                <a:ea typeface="Noto Sans KR" pitchFamily="34" charset="-122"/>
                <a:cs typeface="Noto Sans KR" pitchFamily="34" charset="-120"/>
              </a:rPr>
              <a:t>선제안</a:t>
            </a:r>
            <a:endParaRPr lang="en-US" sz="1200" dirty="0"/>
          </a:p>
        </p:txBody>
      </p:sp>
      <p:sp>
        <p:nvSpPr>
          <p:cNvPr id="59" name="Text 57"/>
          <p:cNvSpPr/>
          <p:nvPr/>
        </p:nvSpPr>
        <p:spPr>
          <a:xfrm>
            <a:off x="3128329" y="4799118"/>
            <a:ext cx="506492" cy="239969"/>
          </a:xfrm>
          <a:prstGeom prst="rect">
            <a:avLst/>
          </a:prstGeom>
          <a:noFill/>
          <a:ln/>
        </p:spPr>
        <p:txBody>
          <a:bodyPr wrap="square" lIns="0" tIns="0" rIns="0" bIns="0" rtlCol="0" anchor="t">
            <a:normAutofit/>
          </a:bodyPr>
          <a:lstStyle/>
          <a:p>
            <a:pPr algn="ctr" indent="0" marL="0">
              <a:lnSpc>
                <a:spcPts val="1690"/>
              </a:lnSpc>
              <a:buNone/>
            </a:pPr>
            <a:r>
              <a:rPr lang="en-US" sz="1300" b="1" dirty="0">
                <a:solidFill>
                  <a:srgbClr val="1C1A24"/>
                </a:solidFill>
                <a:latin typeface="Noto Sans KR" pitchFamily="34" charset="0"/>
                <a:ea typeface="Noto Sans KR" pitchFamily="34" charset="-122"/>
                <a:cs typeface="Noto Sans KR" pitchFamily="34" charset="-120"/>
              </a:rPr>
              <a:t>미지원</a:t>
            </a:r>
            <a:endParaRPr lang="en-US" sz="1300" dirty="0"/>
          </a:p>
        </p:txBody>
      </p:sp>
      <p:sp>
        <p:nvSpPr>
          <p:cNvPr id="60" name="Text 58"/>
          <p:cNvSpPr/>
          <p:nvPr/>
        </p:nvSpPr>
        <p:spPr>
          <a:xfrm>
            <a:off x="2744088" y="5026321"/>
            <a:ext cx="1274902" cy="231118"/>
          </a:xfrm>
          <a:prstGeom prst="rect">
            <a:avLst/>
          </a:prstGeom>
          <a:noFill/>
          <a:ln/>
        </p:spPr>
        <p:txBody>
          <a:bodyPr wrap="square" lIns="0" tIns="0" rIns="0" bIns="0" rtlCol="0" anchor="t">
            <a:normAutofit/>
          </a:bodyPr>
          <a:lstStyle/>
          <a:p>
            <a:pPr algn="ctr" indent="0" marL="0">
              <a:lnSpc>
                <a:spcPts val="1620"/>
              </a:lnSpc>
              <a:buNone/>
            </a:pPr>
            <a:r>
              <a:rPr lang="en-US" sz="1200" dirty="0">
                <a:solidFill>
                  <a:srgbClr val="7A7486"/>
                </a:solidFill>
                <a:latin typeface="Noto Sans KR" pitchFamily="34" charset="0"/>
                <a:ea typeface="Noto Sans KR" pitchFamily="34" charset="-122"/>
                <a:cs typeface="Noto Sans KR" pitchFamily="34" charset="-120"/>
              </a:rPr>
              <a:t>사용자 실행 시 작동</a:t>
            </a:r>
            <a:endParaRPr lang="en-US" sz="1200" dirty="0"/>
          </a:p>
        </p:txBody>
      </p:sp>
      <p:sp>
        <p:nvSpPr>
          <p:cNvPr id="61" name="Text 59"/>
          <p:cNvSpPr/>
          <p:nvPr/>
        </p:nvSpPr>
        <p:spPr>
          <a:xfrm>
            <a:off x="5437199" y="4696259"/>
            <a:ext cx="354595" cy="239969"/>
          </a:xfrm>
          <a:prstGeom prst="rect">
            <a:avLst/>
          </a:prstGeom>
          <a:noFill/>
          <a:ln/>
        </p:spPr>
        <p:txBody>
          <a:bodyPr wrap="square" lIns="0" tIns="0" rIns="0" bIns="0" rtlCol="0" anchor="t">
            <a:normAutofit/>
          </a:bodyPr>
          <a:lstStyle/>
          <a:p>
            <a:pPr algn="ctr" indent="0" marL="0">
              <a:lnSpc>
                <a:spcPts val="1690"/>
              </a:lnSpc>
              <a:buNone/>
            </a:pPr>
            <a:r>
              <a:rPr lang="en-US" sz="1300" b="1" dirty="0">
                <a:solidFill>
                  <a:srgbClr val="1C1A24"/>
                </a:solidFill>
                <a:latin typeface="Noto Sans KR" pitchFamily="34" charset="0"/>
                <a:ea typeface="Noto Sans KR" pitchFamily="34" charset="-122"/>
                <a:cs typeface="Noto Sans KR" pitchFamily="34" charset="-120"/>
              </a:rPr>
              <a:t>지원</a:t>
            </a:r>
            <a:endParaRPr lang="en-US" sz="1300" dirty="0"/>
          </a:p>
        </p:txBody>
      </p:sp>
      <p:sp>
        <p:nvSpPr>
          <p:cNvPr id="62" name="Text 60"/>
          <p:cNvSpPr/>
          <p:nvPr/>
        </p:nvSpPr>
        <p:spPr>
          <a:xfrm>
            <a:off x="5071589" y="4923462"/>
            <a:ext cx="1085887" cy="436837"/>
          </a:xfrm>
          <a:prstGeom prst="rect">
            <a:avLst/>
          </a:prstGeom>
          <a:noFill/>
          <a:ln/>
        </p:spPr>
        <p:txBody>
          <a:bodyPr wrap="square" lIns="0" tIns="0" rIns="0" bIns="0" rtlCol="0" anchor="t">
            <a:normAutofit/>
          </a:bodyPr>
          <a:lstStyle/>
          <a:p>
            <a:pPr algn="ctr" indent="0" marL="0">
              <a:lnSpc>
                <a:spcPts val="1620"/>
              </a:lnSpc>
              <a:buNone/>
            </a:pPr>
            <a:r>
              <a:rPr lang="en-US" sz="1200" dirty="0">
                <a:solidFill>
                  <a:srgbClr val="7A7486"/>
                </a:solidFill>
                <a:latin typeface="Noto Sans KR" pitchFamily="34" charset="0"/>
                <a:ea typeface="Noto Sans KR" pitchFamily="34" charset="-122"/>
                <a:cs typeface="Noto Sans KR" pitchFamily="34" charset="-120"/>
              </a:rPr>
              <a:t>시간/장소 기반</a:t>
            </a:r>
            <a:endParaRPr lang="en-US" sz="1200" dirty="0"/>
          </a:p>
          <a:p>
            <a:pPr algn="ctr" indent="0" marL="0">
              <a:lnSpc>
                <a:spcPts val="1620"/>
              </a:lnSpc>
              <a:buNone/>
            </a:pPr>
            <a:r>
              <a:rPr lang="en-US" sz="1200" dirty="0">
                <a:solidFill>
                  <a:srgbClr val="7A7486"/>
                </a:solidFill>
                <a:latin typeface="Noto Sans KR" pitchFamily="34" charset="0"/>
                <a:ea typeface="Noto Sans KR" pitchFamily="34" charset="-122"/>
                <a:cs typeface="Noto Sans KR" pitchFamily="34" charset="-120"/>
              </a:rPr>
              <a:t>PUSH 알림 위주</a:t>
            </a:r>
            <a:endParaRPr lang="en-US" sz="1200" dirty="0"/>
          </a:p>
        </p:txBody>
      </p:sp>
      <p:sp>
        <p:nvSpPr>
          <p:cNvPr id="63" name="Text 61"/>
          <p:cNvSpPr/>
          <p:nvPr/>
        </p:nvSpPr>
        <p:spPr>
          <a:xfrm>
            <a:off x="7594243" y="4696259"/>
            <a:ext cx="506492" cy="239969"/>
          </a:xfrm>
          <a:prstGeom prst="rect">
            <a:avLst/>
          </a:prstGeom>
          <a:noFill/>
          <a:ln/>
        </p:spPr>
        <p:txBody>
          <a:bodyPr wrap="square" lIns="0" tIns="0" rIns="0" bIns="0" rtlCol="0" anchor="t">
            <a:normAutofit/>
          </a:bodyPr>
          <a:lstStyle/>
          <a:p>
            <a:pPr algn="ctr" indent="0" marL="0">
              <a:lnSpc>
                <a:spcPts val="1690"/>
              </a:lnSpc>
              <a:buNone/>
            </a:pPr>
            <a:r>
              <a:rPr lang="en-US" sz="1300" b="1" dirty="0">
                <a:solidFill>
                  <a:srgbClr val="1C1A24"/>
                </a:solidFill>
                <a:latin typeface="Noto Sans KR" pitchFamily="34" charset="0"/>
                <a:ea typeface="Noto Sans KR" pitchFamily="34" charset="-122"/>
                <a:cs typeface="Noto Sans KR" pitchFamily="34" charset="-120"/>
              </a:rPr>
              <a:t>제한적</a:t>
            </a:r>
            <a:endParaRPr lang="en-US" sz="1300" dirty="0"/>
          </a:p>
        </p:txBody>
      </p:sp>
      <p:sp>
        <p:nvSpPr>
          <p:cNvPr id="64" name="Text 62"/>
          <p:cNvSpPr/>
          <p:nvPr/>
        </p:nvSpPr>
        <p:spPr>
          <a:xfrm>
            <a:off x="7367325" y="4923462"/>
            <a:ext cx="960329" cy="436837"/>
          </a:xfrm>
          <a:prstGeom prst="rect">
            <a:avLst/>
          </a:prstGeom>
          <a:noFill/>
          <a:ln/>
        </p:spPr>
        <p:txBody>
          <a:bodyPr wrap="square" lIns="0" tIns="0" rIns="0" bIns="0" rtlCol="0" anchor="t">
            <a:normAutofit/>
          </a:bodyPr>
          <a:lstStyle/>
          <a:p>
            <a:pPr algn="ctr" indent="0" marL="0">
              <a:lnSpc>
                <a:spcPts val="1620"/>
              </a:lnSpc>
              <a:buNone/>
            </a:pPr>
            <a:r>
              <a:rPr lang="en-US" sz="1200" dirty="0">
                <a:solidFill>
                  <a:srgbClr val="7A7486"/>
                </a:solidFill>
                <a:latin typeface="Noto Sans KR" pitchFamily="34" charset="0"/>
                <a:ea typeface="Noto Sans KR" pitchFamily="34" charset="-122"/>
                <a:cs typeface="Noto Sans KR" pitchFamily="34" charset="-120"/>
              </a:rPr>
              <a:t>대화 기반</a:t>
            </a:r>
            <a:endParaRPr lang="en-US" sz="1200" dirty="0"/>
          </a:p>
          <a:p>
            <a:pPr algn="ctr" indent="0" marL="0">
              <a:lnSpc>
                <a:spcPts val="1620"/>
              </a:lnSpc>
              <a:buNone/>
            </a:pPr>
            <a:r>
              <a:rPr lang="en-US" sz="1200" dirty="0">
                <a:solidFill>
                  <a:srgbClr val="7A7486"/>
                </a:solidFill>
                <a:latin typeface="Noto Sans KR" pitchFamily="34" charset="0"/>
                <a:ea typeface="Noto Sans KR" pitchFamily="34" charset="-122"/>
                <a:cs typeface="Noto Sans KR" pitchFamily="34" charset="-120"/>
              </a:rPr>
              <a:t>일정 등록 알림</a:t>
            </a:r>
            <a:endParaRPr lang="en-US" sz="1200" dirty="0"/>
          </a:p>
        </p:txBody>
      </p:sp>
      <p:sp>
        <p:nvSpPr>
          <p:cNvPr id="65" name="Shape 63"/>
          <p:cNvSpPr/>
          <p:nvPr/>
        </p:nvSpPr>
        <p:spPr>
          <a:xfrm>
            <a:off x="8963951" y="4645507"/>
            <a:ext cx="2232922" cy="740143"/>
          </a:xfrm>
          <a:custGeom>
            <a:avLst/>
            <a:gdLst/>
            <a:ahLst/>
            <a:cxnLst/>
            <a:rect l="l" t="t" r="r" b="b"/>
            <a:pathLst>
              <a:path w="2232922" h="740143">
                <a:moveTo>
                  <a:pt x="0" y="0"/>
                </a:moveTo>
                <a:lnTo>
                  <a:pt x="2232922" y="0"/>
                </a:lnTo>
                <a:lnTo>
                  <a:pt x="2232922" y="613143"/>
                </a:lnTo>
                <a:arcTo hR="127000" wR="127000" stAng="0" swAng="5400000"/>
                <a:lnTo>
                  <a:pt x="127000" y="740143"/>
                </a:lnTo>
                <a:arcTo hR="127000" wR="127000" stAng="5400000" swAng="5400000"/>
                <a:lnTo>
                  <a:pt x="0" y="0"/>
                </a:lnTo>
                <a:close/>
              </a:path>
            </a:pathLst>
          </a:custGeom>
          <a:solidFill>
            <a:srgbClr val="F1ECFF"/>
          </a:solidFill>
          <a:ln/>
        </p:spPr>
      </p:sp>
      <p:sp>
        <p:nvSpPr>
          <p:cNvPr id="66" name="Text 64"/>
          <p:cNvSpPr/>
          <p:nvPr/>
        </p:nvSpPr>
        <p:spPr>
          <a:xfrm>
            <a:off x="9732372" y="4696259"/>
            <a:ext cx="696079" cy="239969"/>
          </a:xfrm>
          <a:prstGeom prst="rect">
            <a:avLst/>
          </a:prstGeom>
          <a:noFill/>
          <a:ln/>
        </p:spPr>
        <p:txBody>
          <a:bodyPr wrap="square" lIns="0" tIns="0" rIns="0" bIns="0" rtlCol="0" anchor="t">
            <a:normAutofit/>
          </a:bodyPr>
          <a:lstStyle/>
          <a:p>
            <a:pPr algn="ctr" indent="0" marL="0">
              <a:lnSpc>
                <a:spcPts val="1690"/>
              </a:lnSpc>
              <a:buNone/>
            </a:pPr>
            <a:r>
              <a:rPr lang="en-US" sz="1300" b="1" dirty="0">
                <a:solidFill>
                  <a:srgbClr val="6B4EFF"/>
                </a:solidFill>
                <a:latin typeface="Noto Sans KR" pitchFamily="34" charset="0"/>
                <a:ea typeface="Noto Sans KR" pitchFamily="34" charset="-122"/>
                <a:cs typeface="Noto Sans KR" pitchFamily="34" charset="-120"/>
              </a:rPr>
              <a:t>완벽 지원</a:t>
            </a:r>
            <a:endParaRPr lang="en-US" sz="1300" dirty="0"/>
          </a:p>
        </p:txBody>
      </p:sp>
      <p:sp>
        <p:nvSpPr>
          <p:cNvPr id="67" name="Text 65"/>
          <p:cNvSpPr/>
          <p:nvPr/>
        </p:nvSpPr>
        <p:spPr>
          <a:xfrm>
            <a:off x="9215578" y="4923462"/>
            <a:ext cx="1729667" cy="436837"/>
          </a:xfrm>
          <a:prstGeom prst="rect">
            <a:avLst/>
          </a:prstGeom>
          <a:noFill/>
          <a:ln/>
        </p:spPr>
        <p:txBody>
          <a:bodyPr wrap="square" lIns="0" tIns="0" rIns="0" bIns="0" rtlCol="0" anchor="t">
            <a:normAutofit/>
          </a:bodyPr>
          <a:lstStyle/>
          <a:p>
            <a:pPr algn="ctr" indent="0" marL="0">
              <a:lnSpc>
                <a:spcPts val="1620"/>
              </a:lnSpc>
              <a:buNone/>
            </a:pPr>
            <a:r>
              <a:rPr lang="en-US" sz="1200" dirty="0">
                <a:solidFill>
                  <a:srgbClr val="4E4A57"/>
                </a:solidFill>
                <a:latin typeface="Noto Sans KR" pitchFamily="34" charset="0"/>
                <a:ea typeface="Noto Sans KR" pitchFamily="34" charset="-122"/>
                <a:cs typeface="Noto Sans KR" pitchFamily="34" charset="-120"/>
              </a:rPr>
              <a:t>입력창 진입 시 연관 맥락을</a:t>
            </a:r>
            <a:endParaRPr lang="en-US" sz="1200" dirty="0"/>
          </a:p>
          <a:p>
            <a:pPr algn="ctr" indent="0" marL="0">
              <a:lnSpc>
                <a:spcPts val="1620"/>
              </a:lnSpc>
              <a:buNone/>
            </a:pPr>
            <a:r>
              <a:rPr lang="en-US" sz="1200" dirty="0">
                <a:solidFill>
                  <a:srgbClr val="4E4A57"/>
                </a:solidFill>
                <a:latin typeface="Noto Sans KR" pitchFamily="34" charset="0"/>
                <a:ea typeface="Noto Sans KR" pitchFamily="34" charset="-122"/>
                <a:cs typeface="Noto Sans KR" pitchFamily="34" charset="-120"/>
              </a:rPr>
              <a:t>키보드에 먼저 띄움</a:t>
            </a:r>
            <a:endParaRPr lang="en-US" sz="1200" dirty="0"/>
          </a:p>
        </p:txBody>
      </p:sp>
      <p:sp>
        <p:nvSpPr>
          <p:cNvPr id="68" name="Text 66"/>
          <p:cNvSpPr/>
          <p:nvPr/>
        </p:nvSpPr>
        <p:spPr>
          <a:xfrm>
            <a:off x="812737" y="6304316"/>
            <a:ext cx="5886450" cy="223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E88A0"/>
                </a:solidFill>
                <a:latin typeface="Noto Sans KR" pitchFamily="34" charset="0"/>
                <a:ea typeface="Noto Sans KR" pitchFamily="34" charset="-122"/>
                <a:cs typeface="Noto Sans KR" pitchFamily="34" charset="-120"/>
              </a:rPr>
              <a:t>Weave · for a richer tomorrow</a:t>
            </a:r>
            <a:endParaRPr lang="en-US" sz="1200" dirty="0"/>
          </a:p>
        </p:txBody>
      </p:sp>
      <p:sp>
        <p:nvSpPr>
          <p:cNvPr id="69" name="Text 67"/>
          <p:cNvSpPr/>
          <p:nvPr/>
        </p:nvSpPr>
        <p:spPr>
          <a:xfrm>
            <a:off x="10058449" y="6304316"/>
            <a:ext cx="1320800" cy="223481"/>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8E88A0"/>
                </a:solidFill>
                <a:latin typeface="Noto Sans KR" pitchFamily="34" charset="0"/>
                <a:ea typeface="Noto Sans KR" pitchFamily="34" charset="-122"/>
                <a:cs typeface="Noto Sans KR" pitchFamily="34" charset="-120"/>
              </a:rPr>
              <a:t>10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CFF"/>
        </a:solidFill>
      </p:bgPr>
    </p:bg>
    <p:spTree>
      <p:nvGrpSpPr>
        <p:cNvPr id="1" name=""/>
        <p:cNvGrpSpPr/>
        <p:nvPr/>
      </p:nvGrpSpPr>
      <p:grpSpPr>
        <a:xfrm>
          <a:off x="0" y="0"/>
          <a:ext cx="0" cy="0"/>
          <a:chOff x="0" y="0"/>
          <a:chExt cx="0" cy="0"/>
        </a:xfrm>
      </p:grpSpPr>
      <p:sp>
        <p:nvSpPr>
          <p:cNvPr id="2" name="Shape 0"/>
          <p:cNvSpPr/>
          <p:nvPr/>
        </p:nvSpPr>
        <p:spPr>
          <a:xfrm>
            <a:off x="0" y="0"/>
            <a:ext cx="12191986" cy="6857943"/>
          </a:xfrm>
          <a:prstGeom prst="rect">
            <a:avLst/>
          </a:prstGeom>
          <a:gradFill rotWithShape="1">
            <a:gsLst>
              <a:gs pos="0">
                <a:srgbClr val="FDFCFF"/>
              </a:gs>
              <a:gs pos="50000">
                <a:srgbClr val="F8F5FF"/>
              </a:gs>
              <a:gs pos="100000">
                <a:srgbClr val="F2EDFF"/>
              </a:gs>
            </a:gsLst>
            <a:lin ang="4200000" scaled="0"/>
          </a:gradFill>
          <a:ln/>
        </p:spPr>
      </p:sp>
      <p:sp>
        <p:nvSpPr>
          <p:cNvPr id="3" name="Shape 1"/>
          <p:cNvSpPr/>
          <p:nvPr/>
        </p:nvSpPr>
        <p:spPr>
          <a:xfrm>
            <a:off x="6095957" y="0"/>
            <a:ext cx="6095957" cy="4825957"/>
          </a:xfrm>
          <a:prstGeom prst="rect">
            <a:avLst/>
          </a:prstGeom>
          <a:gradFill rotWithShape="1">
            <a:gsLst>
              <a:gs pos="0">
                <a:srgbClr val="FFE282">
                  <a:alpha val="42000"/>
                </a:srgbClr>
              </a:gs>
              <a:gs pos="30000">
                <a:srgbClr val="FFEEB9">
                  <a:alpha val="18000"/>
                </a:srgbClr>
              </a:gs>
              <a:gs pos="60000">
                <a:srgbClr val="FFFAEB">
                  <a:alpha val="0"/>
                </a:srgbClr>
              </a:gs>
            </a:gsLst>
            <a:path path="circle">
              <a:fillToRect l="85000" t="8000" r="15000" b="92000"/>
            </a:path>
          </a:gradFill>
          <a:ln/>
        </p:spPr>
      </p:sp>
      <p:sp>
        <p:nvSpPr>
          <p:cNvPr id="4" name="Shape 2"/>
          <p:cNvSpPr/>
          <p:nvPr/>
        </p:nvSpPr>
        <p:spPr>
          <a:xfrm>
            <a:off x="0" y="3555957"/>
            <a:ext cx="5715000" cy="3301986"/>
          </a:xfrm>
          <a:prstGeom prst="rect">
            <a:avLst/>
          </a:prstGeom>
          <a:gradFill rotWithShape="1">
            <a:gsLst>
              <a:gs pos="0">
                <a:srgbClr val="BAA6FF">
                  <a:alpha val="34000"/>
                </a:srgbClr>
              </a:gs>
              <a:gs pos="40000">
                <a:srgbClr val="DCD0FF">
                  <a:alpha val="16000"/>
                </a:srgbClr>
              </a:gs>
              <a:gs pos="72000">
                <a:srgbClr val="F8F5FF">
                  <a:alpha val="0"/>
                </a:srgbClr>
              </a:gs>
            </a:gsLst>
            <a:path path="circle">
              <a:fillToRect l="12000" t="88000" r="88000" b="12000"/>
            </a:path>
          </a:gradFill>
          <a:ln/>
        </p:spPr>
      </p:sp>
      <p:sp>
        <p:nvSpPr>
          <p:cNvPr id="5" name="Text 3"/>
          <p:cNvSpPr/>
          <p:nvPr/>
        </p:nvSpPr>
        <p:spPr>
          <a:xfrm>
            <a:off x="5164583" y="406369"/>
            <a:ext cx="1862748" cy="223481"/>
          </a:xfrm>
          <a:prstGeom prst="rect">
            <a:avLst/>
          </a:prstGeom>
          <a:noFill/>
          <a:ln/>
        </p:spPr>
        <p:txBody>
          <a:bodyPr wrap="square" lIns="0" tIns="0" rIns="0" bIns="0" rtlCol="0" anchor="t">
            <a:normAutofit/>
          </a:bodyPr>
          <a:lstStyle/>
          <a:p>
            <a:pPr algn="ctr" indent="0" marL="0">
              <a:lnSpc>
                <a:spcPts val="1560"/>
              </a:lnSpc>
              <a:buNone/>
            </a:pPr>
            <a:r>
              <a:rPr lang="en-US" sz="1200" b="1" spc="50" kern="0" dirty="0">
                <a:solidFill>
                  <a:srgbClr val="6B4EFF"/>
                </a:solidFill>
                <a:latin typeface="Noto Sans KR" pitchFamily="34" charset="0"/>
                <a:ea typeface="Noto Sans KR" pitchFamily="34" charset="-122"/>
                <a:cs typeface="Noto Sans KR" pitchFamily="34" charset="-120"/>
              </a:rPr>
              <a:t>11 / EXPECTED IMPACT</a:t>
            </a:r>
            <a:endParaRPr lang="en-US" sz="1200" dirty="0"/>
          </a:p>
        </p:txBody>
      </p:sp>
      <p:sp>
        <p:nvSpPr>
          <p:cNvPr id="6" name="Text 4"/>
          <p:cNvSpPr/>
          <p:nvPr/>
        </p:nvSpPr>
        <p:spPr>
          <a:xfrm>
            <a:off x="2367372" y="680613"/>
            <a:ext cx="7457170" cy="452112"/>
          </a:xfrm>
          <a:prstGeom prst="rect">
            <a:avLst/>
          </a:prstGeom>
          <a:noFill/>
          <a:ln/>
        </p:spPr>
        <p:txBody>
          <a:bodyPr wrap="square" lIns="0" tIns="0" rIns="0" bIns="0" rtlCol="0" anchor="t">
            <a:normAutofit/>
          </a:bodyPr>
          <a:lstStyle/>
          <a:p>
            <a:pPr algn="ctr" indent="0" marL="0">
              <a:lnSpc>
                <a:spcPts val="3360"/>
              </a:lnSpc>
              <a:buNone/>
            </a:pPr>
            <a:r>
              <a:rPr lang="en-US" sz="2800" b="1" spc="-50" kern="0" dirty="0">
                <a:solidFill>
                  <a:srgbClr val="6B4EFF"/>
                </a:solidFill>
                <a:latin typeface="Noto Sans KR" pitchFamily="34" charset="0"/>
                <a:ea typeface="Noto Sans KR" pitchFamily="34" charset="-122"/>
                <a:cs typeface="Noto Sans KR" pitchFamily="34" charset="-120"/>
              </a:rPr>
              <a:t>01</a:t>
            </a:r>
            <a:r>
              <a:rPr lang="en-US" sz="2800" b="1" spc="-50" kern="0" dirty="0">
                <a:solidFill>
                  <a:srgbClr val="1C1A24"/>
                </a:solidFill>
                <a:latin typeface="Noto Sans KR" pitchFamily="34" charset="0"/>
                <a:ea typeface="Noto Sans KR" pitchFamily="34" charset="-122"/>
                <a:cs typeface="Noto Sans KR" pitchFamily="34" charset="-120"/>
              </a:rPr>
              <a:t>  "잠깐만 찾아볼게" 대신, 하던 일을 이어갑니다</a:t>
            </a:r>
            <a:endParaRPr lang="en-US" sz="2800" dirty="0"/>
          </a:p>
        </p:txBody>
      </p:sp>
      <p:sp>
        <p:nvSpPr>
          <p:cNvPr id="7" name="Text 5"/>
          <p:cNvSpPr/>
          <p:nvPr/>
        </p:nvSpPr>
        <p:spPr>
          <a:xfrm>
            <a:off x="3820604" y="1183487"/>
            <a:ext cx="4550706" cy="292077"/>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6B4EFF"/>
                </a:solidFill>
                <a:latin typeface="Noto Sans KR" pitchFamily="34" charset="0"/>
                <a:ea typeface="Noto Sans KR" pitchFamily="34" charset="-122"/>
                <a:cs typeface="Noto Sans KR" pitchFamily="34" charset="-120"/>
              </a:rPr>
              <a:t>찾는 시간은 줄이고</a:t>
            </a:r>
            <a:r>
              <a:rPr lang="en-US" sz="1500" dirty="0">
                <a:solidFill>
                  <a:srgbClr val="8E88A0"/>
                </a:solidFill>
                <a:latin typeface="Noto Sans KR" pitchFamily="34" charset="0"/>
                <a:ea typeface="Noto Sans KR" pitchFamily="34" charset="-122"/>
                <a:cs typeface="Noto Sans KR" pitchFamily="34" charset="-120"/>
              </a:rPr>
              <a:t> · 기억은 되살리고 · 기록은 자산으로</a:t>
            </a:r>
            <a:endParaRPr lang="en-US" sz="1500" dirty="0"/>
          </a:p>
        </p:txBody>
      </p:sp>
      <p:sp>
        <p:nvSpPr>
          <p:cNvPr id="8" name="Shape 6"/>
          <p:cNvSpPr/>
          <p:nvPr/>
        </p:nvSpPr>
        <p:spPr>
          <a:xfrm>
            <a:off x="815984" y="1681899"/>
            <a:ext cx="4057622" cy="3168650"/>
          </a:xfrm>
          <a:prstGeom prst="roundRect">
            <a:avLst>
              <a:gd name="adj" fmla="val 5511"/>
            </a:avLst>
          </a:prstGeom>
          <a:solidFill>
            <a:srgbClr val="F4F1FA"/>
          </a:solidFill>
          <a:ln w="6350">
            <a:solidFill>
              <a:srgbClr val="E4DDF7"/>
            </a:solidFill>
            <a:prstDash val="solid"/>
          </a:ln>
        </p:spPr>
      </p:sp>
      <p:sp>
        <p:nvSpPr>
          <p:cNvPr id="9" name="Shape 7"/>
          <p:cNvSpPr/>
          <p:nvPr/>
        </p:nvSpPr>
        <p:spPr>
          <a:xfrm>
            <a:off x="1096760" y="2241415"/>
            <a:ext cx="684324" cy="290661"/>
          </a:xfrm>
          <a:prstGeom prst="roundRect">
            <a:avLst>
              <a:gd name="adj" fmla="val 50000"/>
            </a:avLst>
          </a:prstGeom>
          <a:solidFill>
            <a:srgbClr val="E6E1F0"/>
          </a:solidFill>
          <a:ln/>
        </p:spPr>
      </p:sp>
      <p:sp>
        <p:nvSpPr>
          <p:cNvPr id="10" name="Text 8"/>
          <p:cNvSpPr/>
          <p:nvPr/>
        </p:nvSpPr>
        <p:spPr>
          <a:xfrm>
            <a:off x="1236460" y="2279515"/>
            <a:ext cx="455724" cy="239861"/>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5B5866"/>
                </a:solidFill>
                <a:latin typeface="Noto Sans KR" pitchFamily="34" charset="0"/>
                <a:ea typeface="Noto Sans KR" pitchFamily="34" charset="-122"/>
                <a:cs typeface="Noto Sans KR" pitchFamily="34" charset="-120"/>
              </a:rPr>
              <a:t>NOW</a:t>
            </a:r>
            <a:endParaRPr lang="en-US" sz="1300" dirty="0"/>
          </a:p>
        </p:txBody>
      </p:sp>
      <p:sp>
        <p:nvSpPr>
          <p:cNvPr id="11" name="Text 9"/>
          <p:cNvSpPr/>
          <p:nvPr/>
        </p:nvSpPr>
        <p:spPr>
          <a:xfrm>
            <a:off x="1096760" y="2659063"/>
            <a:ext cx="1172900" cy="977900"/>
          </a:xfrm>
          <a:prstGeom prst="rect">
            <a:avLst/>
          </a:prstGeom>
          <a:noFill/>
          <a:ln/>
        </p:spPr>
        <p:txBody>
          <a:bodyPr wrap="square" lIns="0" tIns="0" rIns="0" bIns="0" rtlCol="0" anchor="t">
            <a:normAutofit/>
          </a:bodyPr>
          <a:lstStyle/>
          <a:p>
            <a:pPr algn="l" indent="0" marL="0">
              <a:lnSpc>
                <a:spcPts val="7500"/>
              </a:lnSpc>
              <a:buNone/>
            </a:pPr>
            <a:r>
              <a:rPr lang="en-US" sz="7500" b="1" spc="-150" kern="0" dirty="0">
                <a:solidFill>
                  <a:srgbClr val="2B2640"/>
                </a:solidFill>
                <a:latin typeface="Noto Sans KR" pitchFamily="34" charset="0"/>
                <a:ea typeface="Noto Sans KR" pitchFamily="34" charset="-122"/>
                <a:cs typeface="Noto Sans KR" pitchFamily="34" charset="-120"/>
              </a:rPr>
              <a:t>59</a:t>
            </a:r>
            <a:endParaRPr lang="en-US" sz="7500" dirty="0"/>
          </a:p>
        </p:txBody>
      </p:sp>
      <p:sp>
        <p:nvSpPr>
          <p:cNvPr id="12" name="Text 10"/>
          <p:cNvSpPr/>
          <p:nvPr/>
        </p:nvSpPr>
        <p:spPr>
          <a:xfrm>
            <a:off x="2256905" y="3193559"/>
            <a:ext cx="401349" cy="406429"/>
          </a:xfrm>
          <a:prstGeom prst="rect">
            <a:avLst/>
          </a:prstGeom>
          <a:noFill/>
          <a:ln/>
        </p:spPr>
        <p:txBody>
          <a:bodyPr wrap="square" lIns="0" tIns="0" rIns="0" bIns="0" rtlCol="0" anchor="t">
            <a:normAutofit/>
          </a:bodyPr>
          <a:lstStyle/>
          <a:p>
            <a:pPr algn="l" indent="0" marL="0">
              <a:lnSpc>
                <a:spcPts val="3000"/>
              </a:lnSpc>
              <a:buNone/>
            </a:pPr>
            <a:r>
              <a:rPr lang="en-US" sz="3000" b="1" dirty="0">
                <a:solidFill>
                  <a:srgbClr val="2B2640"/>
                </a:solidFill>
                <a:latin typeface="Noto Sans KR" pitchFamily="34" charset="0"/>
                <a:ea typeface="Noto Sans KR" pitchFamily="34" charset="-122"/>
                <a:cs typeface="Noto Sans KR" pitchFamily="34" charset="-120"/>
              </a:rPr>
              <a:t>분</a:t>
            </a:r>
            <a:endParaRPr lang="en-US" sz="3000" dirty="0"/>
          </a:p>
        </p:txBody>
      </p:sp>
      <p:sp>
        <p:nvSpPr>
          <p:cNvPr id="13" name="Text 11"/>
          <p:cNvSpPr/>
          <p:nvPr/>
        </p:nvSpPr>
        <p:spPr>
          <a:xfrm>
            <a:off x="1096760" y="3738549"/>
            <a:ext cx="3600951" cy="577884"/>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E4A57"/>
                </a:solidFill>
                <a:latin typeface="Noto Sans KR" pitchFamily="34" charset="0"/>
                <a:ea typeface="Noto Sans KR" pitchFamily="34" charset="-122"/>
                <a:cs typeface="Noto Sans KR" pitchFamily="34" charset="-120"/>
              </a:rPr>
              <a:t>하루 평균 </a:t>
            </a:r>
            <a:r>
              <a:rPr lang="en-US" sz="1500" b="1" dirty="0">
                <a:solidFill>
                  <a:srgbClr val="4E4A57"/>
                </a:solidFill>
                <a:latin typeface="Noto Sans KR" pitchFamily="34" charset="0"/>
                <a:ea typeface="Noto Sans KR" pitchFamily="34" charset="-122"/>
                <a:cs typeface="Noto Sans KR" pitchFamily="34" charset="-120"/>
              </a:rPr>
              <a:t>59분</a:t>
            </a:r>
            <a:r>
              <a:rPr lang="en-US" sz="1500" dirty="0">
                <a:solidFill>
                  <a:srgbClr val="4E4A57"/>
                </a:solidFill>
                <a:latin typeface="Noto Sans KR" pitchFamily="34" charset="0"/>
                <a:ea typeface="Noto Sans KR" pitchFamily="34" charset="-122"/>
                <a:cs typeface="Noto Sans KR" pitchFamily="34" charset="-120"/>
              </a:rPr>
              <a:t>을 여러 앱에 흩어진</a:t>
            </a:r>
            <a:endParaRPr lang="en-US" sz="1500" dirty="0"/>
          </a:p>
          <a:p>
            <a:pPr algn="l" indent="0" marL="0">
              <a:lnSpc>
                <a:spcPts val="2175"/>
              </a:lnSpc>
              <a:buNone/>
            </a:pPr>
            <a:r>
              <a:rPr lang="en-US" sz="1500" dirty="0">
                <a:solidFill>
                  <a:srgbClr val="4E4A57"/>
                </a:solidFill>
                <a:latin typeface="Noto Sans KR" pitchFamily="34" charset="0"/>
                <a:ea typeface="Noto Sans KR" pitchFamily="34" charset="-122"/>
                <a:cs typeface="Noto Sans KR" pitchFamily="34" charset="-120"/>
              </a:rPr>
              <a:t>정보를 찾는 데 허비</a:t>
            </a:r>
            <a:endParaRPr lang="en-US" sz="1500" dirty="0"/>
          </a:p>
        </p:txBody>
      </p:sp>
      <p:pic>
        <p:nvPicPr>
          <p:cNvPr id="14" name="Image 0" descr="preencoded.png">    </p:cNvPr>
          <p:cNvPicPr>
            <a:picLocks noChangeAspect="1"/>
          </p:cNvPicPr>
          <p:nvPr/>
        </p:nvPicPr>
        <p:blipFill>
          <a:blip r:embed="rId1"/>
          <a:srcRect l="-3" r="-3" t="0" b="0"/>
          <a:stretch/>
        </p:blipFill>
        <p:spPr>
          <a:xfrm>
            <a:off x="5054517" y="3063004"/>
            <a:ext cx="304794" cy="406369"/>
          </a:xfrm>
          <a:prstGeom prst="rect">
            <a:avLst/>
          </a:prstGeom>
        </p:spPr>
      </p:pic>
      <p:sp>
        <p:nvSpPr>
          <p:cNvPr id="15" name="Shape 12"/>
          <p:cNvSpPr/>
          <p:nvPr/>
        </p:nvSpPr>
        <p:spPr>
          <a:xfrm>
            <a:off x="5543399" y="1685074"/>
            <a:ext cx="5829429" cy="3162300"/>
          </a:xfrm>
          <a:prstGeom prst="roundRect">
            <a:avLst>
              <a:gd name="adj" fmla="val 5422"/>
            </a:avLst>
          </a:prstGeom>
          <a:gradFill rotWithShape="1">
            <a:gsLst>
              <a:gs pos="0">
                <a:srgbClr val="FFFFFF"/>
              </a:gs>
              <a:gs pos="100000">
                <a:srgbClr val="F6F2FF"/>
              </a:gs>
            </a:gsLst>
            <a:lin ang="1800000" scaled="0"/>
          </a:gradFill>
          <a:ln w="12700">
            <a:solidFill>
              <a:srgbClr val="8B6BFF"/>
            </a:solidFill>
            <a:prstDash val="solid"/>
          </a:ln>
          <a:effectLst>
            <a:outerShdw sx="100000" sy="100000" kx="0" ky="0" algn="bl" rotWithShape="0" blurRad="317500" dist="127000" dir="5400000">
              <a:srgbClr val="6B4EFF">
                <a:alpha val="14000"/>
              </a:srgbClr>
            </a:outerShdw>
          </a:effectLst>
        </p:spPr>
      </p:sp>
      <p:sp>
        <p:nvSpPr>
          <p:cNvPr id="16" name="Shape 13"/>
          <p:cNvSpPr/>
          <p:nvPr/>
        </p:nvSpPr>
        <p:spPr>
          <a:xfrm>
            <a:off x="5825568" y="2397026"/>
            <a:ext cx="894682" cy="290661"/>
          </a:xfrm>
          <a:prstGeom prst="roundRect">
            <a:avLst>
              <a:gd name="adj" fmla="val 50000"/>
            </a:avLst>
          </a:prstGeom>
          <a:solidFill>
            <a:srgbClr val="6B4EFF"/>
          </a:solidFill>
          <a:ln/>
        </p:spPr>
      </p:sp>
      <p:sp>
        <p:nvSpPr>
          <p:cNvPr id="17" name="Text 14"/>
          <p:cNvSpPr/>
          <p:nvPr/>
        </p:nvSpPr>
        <p:spPr>
          <a:xfrm>
            <a:off x="5965268" y="2435126"/>
            <a:ext cx="666082" cy="239861"/>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FFFFF"/>
                </a:solidFill>
                <a:latin typeface="Noto Sans KR" pitchFamily="34" charset="0"/>
                <a:ea typeface="Noto Sans KR" pitchFamily="34" charset="-122"/>
                <a:cs typeface="Noto Sans KR" pitchFamily="34" charset="-120"/>
              </a:rPr>
              <a:t>IMPACT</a:t>
            </a:r>
            <a:endParaRPr lang="en-US" sz="1300" dirty="0"/>
          </a:p>
        </p:txBody>
      </p:sp>
      <p:sp>
        <p:nvSpPr>
          <p:cNvPr id="18" name="Shape 15"/>
          <p:cNvSpPr/>
          <p:nvPr/>
        </p:nvSpPr>
        <p:spPr>
          <a:xfrm>
            <a:off x="5825568" y="2840084"/>
            <a:ext cx="279383" cy="279383"/>
          </a:xfrm>
          <a:prstGeom prst="roundRect">
            <a:avLst>
              <a:gd name="adj" fmla="val 50000"/>
            </a:avLst>
          </a:prstGeom>
          <a:solidFill>
            <a:srgbClr val="EDE7FF"/>
          </a:solidFill>
          <a:ln/>
        </p:spPr>
      </p:sp>
      <p:pic>
        <p:nvPicPr>
          <p:cNvPr id="19" name="Image 1" descr="Check">    </p:cNvPr>
          <p:cNvPicPr>
            <a:picLocks noChangeAspect="1"/>
          </p:cNvPicPr>
          <p:nvPr/>
        </p:nvPicPr>
        <p:blipFill>
          <a:blip r:embed="rId2"/>
          <a:srcRect l="0" r="0" t="0" b="0"/>
          <a:stretch/>
        </p:blipFill>
        <p:spPr>
          <a:xfrm>
            <a:off x="5882744" y="2897259"/>
            <a:ext cx="165031" cy="165031"/>
          </a:xfrm>
          <a:prstGeom prst="rect">
            <a:avLst/>
          </a:prstGeom>
        </p:spPr>
      </p:pic>
      <p:sp>
        <p:nvSpPr>
          <p:cNvPr id="20" name="Text 16"/>
          <p:cNvSpPr/>
          <p:nvPr/>
        </p:nvSpPr>
        <p:spPr>
          <a:xfrm>
            <a:off x="6219231" y="2840084"/>
            <a:ext cx="5017569" cy="596871"/>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2B2640"/>
                </a:solidFill>
                <a:latin typeface="Noto Sans KR" pitchFamily="34" charset="0"/>
                <a:ea typeface="Noto Sans KR" pitchFamily="34" charset="-122"/>
                <a:cs typeface="Noto Sans KR" pitchFamily="34" charset="-120"/>
              </a:rPr>
              <a:t>어느 앱에 기록했는지 찾고, 오래된 대화를 넘기고,</a:t>
            </a:r>
            <a:endParaRPr lang="en-US" sz="1500" dirty="0"/>
          </a:p>
          <a:p>
            <a:pPr algn="l" indent="0" marL="0">
              <a:lnSpc>
                <a:spcPts val="2250"/>
              </a:lnSpc>
              <a:buNone/>
            </a:pPr>
            <a:r>
              <a:rPr lang="en-US" sz="1500" dirty="0">
                <a:solidFill>
                  <a:srgbClr val="2B2640"/>
                </a:solidFill>
                <a:latin typeface="Noto Sans KR" pitchFamily="34" charset="0"/>
                <a:ea typeface="Noto Sans KR" pitchFamily="34" charset="-122"/>
                <a:cs typeface="Noto Sans KR" pitchFamily="34" charset="-120"/>
              </a:rPr>
              <a:t>갤러리에서 사진을 넘기던 </a:t>
            </a:r>
            <a:r>
              <a:rPr lang="en-US" sz="1500" b="1" dirty="0">
                <a:solidFill>
                  <a:srgbClr val="6B4EFF"/>
                </a:solidFill>
                <a:latin typeface="Noto Sans KR" pitchFamily="34" charset="0"/>
                <a:ea typeface="Noto Sans KR" pitchFamily="34" charset="-122"/>
                <a:cs typeface="Noto Sans KR" pitchFamily="34" charset="-120"/>
              </a:rPr>
              <a:t>과정을 줄입니다.</a:t>
            </a:r>
            <a:endParaRPr lang="en-US" sz="1500" dirty="0"/>
          </a:p>
        </p:txBody>
      </p:sp>
      <p:sp>
        <p:nvSpPr>
          <p:cNvPr id="21" name="Shape 17"/>
          <p:cNvSpPr/>
          <p:nvPr/>
        </p:nvSpPr>
        <p:spPr>
          <a:xfrm>
            <a:off x="5825568" y="3563951"/>
            <a:ext cx="279383" cy="279383"/>
          </a:xfrm>
          <a:prstGeom prst="roundRect">
            <a:avLst>
              <a:gd name="adj" fmla="val 50000"/>
            </a:avLst>
          </a:prstGeom>
          <a:solidFill>
            <a:srgbClr val="EDE7FF"/>
          </a:solidFill>
          <a:ln/>
        </p:spPr>
      </p:sp>
      <p:pic>
        <p:nvPicPr>
          <p:cNvPr id="22" name="Image 2" descr="Check">    </p:cNvPr>
          <p:cNvPicPr>
            <a:picLocks noChangeAspect="1"/>
          </p:cNvPicPr>
          <p:nvPr/>
        </p:nvPicPr>
        <p:blipFill>
          <a:blip r:embed="rId3"/>
          <a:srcRect l="0" r="0" t="0" b="0"/>
          <a:stretch/>
        </p:blipFill>
        <p:spPr>
          <a:xfrm>
            <a:off x="5882744" y="3621128"/>
            <a:ext cx="165031" cy="165031"/>
          </a:xfrm>
          <a:prstGeom prst="rect">
            <a:avLst/>
          </a:prstGeom>
        </p:spPr>
      </p:pic>
      <p:sp>
        <p:nvSpPr>
          <p:cNvPr id="23" name="Text 18"/>
          <p:cNvSpPr/>
          <p:nvPr/>
        </p:nvSpPr>
        <p:spPr>
          <a:xfrm>
            <a:off x="6219231" y="3563951"/>
            <a:ext cx="5017569" cy="596871"/>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2B2640"/>
                </a:solidFill>
                <a:latin typeface="Noto Sans KR" pitchFamily="34" charset="0"/>
                <a:ea typeface="Noto Sans KR" pitchFamily="34" charset="-122"/>
                <a:cs typeface="Noto Sans KR" pitchFamily="34" charset="-120"/>
              </a:rPr>
              <a:t>키보드에서 필요한 내용을 제안받고,</a:t>
            </a:r>
            <a:endParaRPr lang="en-US" sz="1500" dirty="0"/>
          </a:p>
          <a:p>
            <a:pPr algn="l" indent="0" marL="0">
              <a:lnSpc>
                <a:spcPts val="2250"/>
              </a:lnSpc>
              <a:buNone/>
            </a:pPr>
            <a:r>
              <a:rPr lang="en-US" sz="1500" b="1" dirty="0">
                <a:solidFill>
                  <a:srgbClr val="6B4EFF"/>
                </a:solidFill>
                <a:latin typeface="Noto Sans KR" pitchFamily="34" charset="0"/>
                <a:ea typeface="Noto Sans KR" pitchFamily="34" charset="-122"/>
                <a:cs typeface="Noto Sans KR" pitchFamily="34" charset="-120"/>
              </a:rPr>
              <a:t>여러 앱의 기록을 한번에</a:t>
            </a:r>
            <a:r>
              <a:rPr lang="en-US" sz="1500" dirty="0">
                <a:solidFill>
                  <a:srgbClr val="2B2640"/>
                </a:solidFill>
                <a:latin typeface="Noto Sans KR" pitchFamily="34" charset="0"/>
                <a:ea typeface="Noto Sans KR" pitchFamily="34" charset="-122"/>
                <a:cs typeface="Noto Sans KR" pitchFamily="34" charset="-120"/>
              </a:rPr>
              <a:t> 찾습니다.</a:t>
            </a:r>
            <a:endParaRPr lang="en-US" sz="1500" dirty="0"/>
          </a:p>
        </p:txBody>
      </p:sp>
      <p:sp>
        <p:nvSpPr>
          <p:cNvPr id="24" name="Shape 19"/>
          <p:cNvSpPr/>
          <p:nvPr/>
        </p:nvSpPr>
        <p:spPr>
          <a:xfrm>
            <a:off x="3357874" y="5088634"/>
            <a:ext cx="1555242" cy="389029"/>
          </a:xfrm>
          <a:prstGeom prst="roundRect">
            <a:avLst>
              <a:gd name="adj" fmla="val 50000"/>
            </a:avLst>
          </a:prstGeom>
          <a:solidFill>
            <a:srgbClr val="FFFFFF"/>
          </a:solidFill>
          <a:ln w="12700">
            <a:solidFill>
              <a:srgbClr val="CFC3FF"/>
            </a:solidFill>
            <a:prstDash val="solid"/>
          </a:ln>
        </p:spPr>
      </p:sp>
      <p:sp>
        <p:nvSpPr>
          <p:cNvPr id="25" name="Text 20"/>
          <p:cNvSpPr/>
          <p:nvPr/>
        </p:nvSpPr>
        <p:spPr>
          <a:xfrm>
            <a:off x="3525760" y="5167620"/>
            <a:ext cx="1219468" cy="256455"/>
          </a:xfrm>
          <a:prstGeom prst="rect">
            <a:avLst/>
          </a:prstGeom>
          <a:noFill/>
          <a:ln/>
        </p:spPr>
        <p:txBody>
          <a:bodyPr wrap="none" lIns="0" tIns="0" rIns="0" bIns="0" rtlCol="0" anchor="t">
            <a:normAutofit/>
          </a:bodyPr>
          <a:lstStyle/>
          <a:p>
            <a:pPr algn="ctr" indent="0" marL="0">
              <a:lnSpc>
                <a:spcPts val="1820"/>
              </a:lnSpc>
              <a:buNone/>
            </a:pPr>
            <a:r>
              <a:rPr lang="en-US" sz="1400" b="1" dirty="0">
                <a:solidFill>
                  <a:srgbClr val="6B4EFF"/>
                </a:solidFill>
                <a:latin typeface="Noto Sans KR" pitchFamily="34" charset="0"/>
                <a:ea typeface="Noto Sans KR" pitchFamily="34" charset="-122"/>
                <a:cs typeface="Noto Sans KR" pitchFamily="34" charset="-120"/>
              </a:rPr>
              <a:t>#찾는 시간 단축</a:t>
            </a:r>
            <a:endParaRPr lang="en-US" sz="1400" dirty="0"/>
          </a:p>
        </p:txBody>
      </p:sp>
      <p:sp>
        <p:nvSpPr>
          <p:cNvPr id="26" name="Shape 21"/>
          <p:cNvSpPr/>
          <p:nvPr/>
        </p:nvSpPr>
        <p:spPr>
          <a:xfrm>
            <a:off x="5052801" y="5088634"/>
            <a:ext cx="1391709" cy="389029"/>
          </a:xfrm>
          <a:prstGeom prst="roundRect">
            <a:avLst>
              <a:gd name="adj" fmla="val 50000"/>
            </a:avLst>
          </a:prstGeom>
          <a:solidFill>
            <a:srgbClr val="FFFFFF"/>
          </a:solidFill>
          <a:ln w="12700">
            <a:solidFill>
              <a:srgbClr val="CFC3FF"/>
            </a:solidFill>
            <a:prstDash val="solid"/>
          </a:ln>
        </p:spPr>
      </p:sp>
      <p:sp>
        <p:nvSpPr>
          <p:cNvPr id="27" name="Text 22"/>
          <p:cNvSpPr/>
          <p:nvPr/>
        </p:nvSpPr>
        <p:spPr>
          <a:xfrm>
            <a:off x="5220688" y="5167620"/>
            <a:ext cx="1055936" cy="256455"/>
          </a:xfrm>
          <a:prstGeom prst="rect">
            <a:avLst/>
          </a:prstGeom>
          <a:noFill/>
          <a:ln/>
        </p:spPr>
        <p:txBody>
          <a:bodyPr wrap="none" lIns="0" tIns="0" rIns="0" bIns="0" rtlCol="0" anchor="t">
            <a:normAutofit/>
          </a:bodyPr>
          <a:lstStyle/>
          <a:p>
            <a:pPr algn="ctr" indent="0" marL="0">
              <a:lnSpc>
                <a:spcPts val="1820"/>
              </a:lnSpc>
              <a:buNone/>
            </a:pPr>
            <a:r>
              <a:rPr lang="en-US" sz="1400" b="1" dirty="0">
                <a:solidFill>
                  <a:srgbClr val="6B4EFF"/>
                </a:solidFill>
                <a:latin typeface="Noto Sans KR" pitchFamily="34" charset="0"/>
                <a:ea typeface="Noto Sans KR" pitchFamily="34" charset="-122"/>
                <a:cs typeface="Noto Sans KR" pitchFamily="34" charset="-120"/>
              </a:rPr>
              <a:t>#앱 전환 감소</a:t>
            </a:r>
            <a:endParaRPr lang="en-US" sz="1400" dirty="0"/>
          </a:p>
        </p:txBody>
      </p:sp>
      <p:sp>
        <p:nvSpPr>
          <p:cNvPr id="28" name="Shape 23"/>
          <p:cNvSpPr/>
          <p:nvPr/>
        </p:nvSpPr>
        <p:spPr>
          <a:xfrm>
            <a:off x="6584197" y="5088634"/>
            <a:ext cx="2249916" cy="389029"/>
          </a:xfrm>
          <a:prstGeom prst="roundRect">
            <a:avLst>
              <a:gd name="adj" fmla="val 50000"/>
            </a:avLst>
          </a:prstGeom>
          <a:solidFill>
            <a:srgbClr val="FFFFFF"/>
          </a:solidFill>
          <a:ln w="12700">
            <a:solidFill>
              <a:srgbClr val="CFC3FF"/>
            </a:solidFill>
            <a:prstDash val="solid"/>
          </a:ln>
        </p:spPr>
      </p:sp>
      <p:sp>
        <p:nvSpPr>
          <p:cNvPr id="29" name="Text 24"/>
          <p:cNvSpPr/>
          <p:nvPr/>
        </p:nvSpPr>
        <p:spPr>
          <a:xfrm>
            <a:off x="6749533" y="5167620"/>
            <a:ext cx="1919243" cy="256455"/>
          </a:xfrm>
          <a:prstGeom prst="rect">
            <a:avLst/>
          </a:prstGeom>
          <a:noFill/>
          <a:ln/>
        </p:spPr>
        <p:txBody>
          <a:bodyPr wrap="none" lIns="0" tIns="0" rIns="0" bIns="0" rtlCol="0" anchor="t">
            <a:normAutofit/>
          </a:bodyPr>
          <a:lstStyle/>
          <a:p>
            <a:pPr algn="ctr" indent="0" marL="0">
              <a:lnSpc>
                <a:spcPts val="1820"/>
              </a:lnSpc>
              <a:buNone/>
            </a:pPr>
            <a:r>
              <a:rPr lang="en-US" sz="1400" b="1" dirty="0">
                <a:solidFill>
                  <a:srgbClr val="6B4EFF"/>
                </a:solidFill>
                <a:latin typeface="Noto Sans KR" pitchFamily="34" charset="0"/>
                <a:ea typeface="Noto Sans KR" pitchFamily="34" charset="-122"/>
                <a:cs typeface="Noto Sans KR" pitchFamily="34" charset="-120"/>
              </a:rPr>
              <a:t>#대화와 업무의 흐름 유지</a:t>
            </a:r>
            <a:endParaRPr lang="en-US" sz="1400" dirty="0"/>
          </a:p>
        </p:txBody>
      </p:sp>
      <p:sp>
        <p:nvSpPr>
          <p:cNvPr id="30" name="Text 25"/>
          <p:cNvSpPr/>
          <p:nvPr/>
        </p:nvSpPr>
        <p:spPr>
          <a:xfrm>
            <a:off x="812737" y="6304316"/>
            <a:ext cx="8502650" cy="223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E88A0"/>
                </a:solidFill>
                <a:latin typeface="Noto Sans KR" pitchFamily="34" charset="0"/>
                <a:ea typeface="Noto Sans KR" pitchFamily="34" charset="-122"/>
                <a:cs typeface="Noto Sans KR" pitchFamily="34" charset="-120"/>
              </a:rPr>
              <a:t>* 출처: Cornell University Idea Lab &amp; Qatalog, "Workplace Attention Study" (2021. 09)</a:t>
            </a:r>
            <a:endParaRPr lang="en-US" sz="1200" dirty="0"/>
          </a:p>
        </p:txBody>
      </p:sp>
      <p:sp>
        <p:nvSpPr>
          <p:cNvPr id="31" name="Text 26"/>
          <p:cNvSpPr/>
          <p:nvPr/>
        </p:nvSpPr>
        <p:spPr>
          <a:xfrm>
            <a:off x="10058449" y="6304316"/>
            <a:ext cx="1320800" cy="223481"/>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8E88A0"/>
                </a:solidFill>
                <a:latin typeface="Noto Sans KR" pitchFamily="34" charset="0"/>
                <a:ea typeface="Noto Sans KR" pitchFamily="34" charset="-122"/>
                <a:cs typeface="Noto Sans KR" pitchFamily="34" charset="-120"/>
              </a:rPr>
              <a:t>11</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CFF"/>
        </a:solidFill>
      </p:bgPr>
    </p:bg>
    <p:spTree>
      <p:nvGrpSpPr>
        <p:cNvPr id="1" name=""/>
        <p:cNvGrpSpPr/>
        <p:nvPr/>
      </p:nvGrpSpPr>
      <p:grpSpPr>
        <a:xfrm>
          <a:off x="0" y="0"/>
          <a:ext cx="0" cy="0"/>
          <a:chOff x="0" y="0"/>
          <a:chExt cx="0" cy="0"/>
        </a:xfrm>
      </p:grpSpPr>
      <p:sp>
        <p:nvSpPr>
          <p:cNvPr id="2" name="Shape 0"/>
          <p:cNvSpPr/>
          <p:nvPr/>
        </p:nvSpPr>
        <p:spPr>
          <a:xfrm>
            <a:off x="0" y="0"/>
            <a:ext cx="12191986" cy="6857943"/>
          </a:xfrm>
          <a:prstGeom prst="rect">
            <a:avLst/>
          </a:prstGeom>
          <a:gradFill rotWithShape="1">
            <a:gsLst>
              <a:gs pos="0">
                <a:srgbClr val="FDFCFF"/>
              </a:gs>
              <a:gs pos="50000">
                <a:srgbClr val="F8F5FF"/>
              </a:gs>
              <a:gs pos="100000">
                <a:srgbClr val="F2EDFF"/>
              </a:gs>
            </a:gsLst>
            <a:lin ang="4200000" scaled="0"/>
          </a:gradFill>
          <a:ln/>
        </p:spPr>
      </p:sp>
      <p:sp>
        <p:nvSpPr>
          <p:cNvPr id="3" name="Shape 1"/>
          <p:cNvSpPr/>
          <p:nvPr/>
        </p:nvSpPr>
        <p:spPr>
          <a:xfrm>
            <a:off x="6095957" y="0"/>
            <a:ext cx="6095957" cy="4825957"/>
          </a:xfrm>
          <a:prstGeom prst="rect">
            <a:avLst/>
          </a:prstGeom>
          <a:gradFill rotWithShape="1">
            <a:gsLst>
              <a:gs pos="0">
                <a:srgbClr val="FFE282">
                  <a:alpha val="42000"/>
                </a:srgbClr>
              </a:gs>
              <a:gs pos="30000">
                <a:srgbClr val="FFEEB9">
                  <a:alpha val="18000"/>
                </a:srgbClr>
              </a:gs>
              <a:gs pos="60000">
                <a:srgbClr val="FFFAEB">
                  <a:alpha val="0"/>
                </a:srgbClr>
              </a:gs>
            </a:gsLst>
            <a:path path="circle">
              <a:fillToRect l="85000" t="8000" r="15000" b="92000"/>
            </a:path>
          </a:gradFill>
          <a:ln/>
        </p:spPr>
      </p:sp>
      <p:sp>
        <p:nvSpPr>
          <p:cNvPr id="4" name="Shape 2"/>
          <p:cNvSpPr/>
          <p:nvPr/>
        </p:nvSpPr>
        <p:spPr>
          <a:xfrm>
            <a:off x="0" y="3555957"/>
            <a:ext cx="5715000" cy="3301986"/>
          </a:xfrm>
          <a:prstGeom prst="rect">
            <a:avLst/>
          </a:prstGeom>
          <a:gradFill rotWithShape="1">
            <a:gsLst>
              <a:gs pos="0">
                <a:srgbClr val="BAA6FF">
                  <a:alpha val="34000"/>
                </a:srgbClr>
              </a:gs>
              <a:gs pos="40000">
                <a:srgbClr val="DCD0FF">
                  <a:alpha val="16000"/>
                </a:srgbClr>
              </a:gs>
              <a:gs pos="72000">
                <a:srgbClr val="F8F5FF">
                  <a:alpha val="0"/>
                </a:srgbClr>
              </a:gs>
            </a:gsLst>
            <a:path path="circle">
              <a:fillToRect l="12000" t="88000" r="88000" b="12000"/>
            </a:path>
          </a:gradFill>
          <a:ln/>
        </p:spPr>
      </p:sp>
      <p:sp>
        <p:nvSpPr>
          <p:cNvPr id="5" name="Text 3"/>
          <p:cNvSpPr/>
          <p:nvPr/>
        </p:nvSpPr>
        <p:spPr>
          <a:xfrm>
            <a:off x="5164583" y="406369"/>
            <a:ext cx="1862748" cy="223481"/>
          </a:xfrm>
          <a:prstGeom prst="rect">
            <a:avLst/>
          </a:prstGeom>
          <a:noFill/>
          <a:ln/>
        </p:spPr>
        <p:txBody>
          <a:bodyPr wrap="square" lIns="0" tIns="0" rIns="0" bIns="0" rtlCol="0" anchor="t">
            <a:normAutofit/>
          </a:bodyPr>
          <a:lstStyle/>
          <a:p>
            <a:pPr algn="ctr" indent="0" marL="0">
              <a:lnSpc>
                <a:spcPts val="1560"/>
              </a:lnSpc>
              <a:buNone/>
            </a:pPr>
            <a:r>
              <a:rPr lang="en-US" sz="1200" b="1" spc="50" kern="0" dirty="0">
                <a:solidFill>
                  <a:srgbClr val="6B4EFF"/>
                </a:solidFill>
                <a:latin typeface="Noto Sans KR" pitchFamily="34" charset="0"/>
                <a:ea typeface="Noto Sans KR" pitchFamily="34" charset="-122"/>
                <a:cs typeface="Noto Sans KR" pitchFamily="34" charset="-120"/>
              </a:rPr>
              <a:t>12 / EXPECTED IMPACT</a:t>
            </a:r>
            <a:endParaRPr lang="en-US" sz="1200" dirty="0"/>
          </a:p>
        </p:txBody>
      </p:sp>
      <p:sp>
        <p:nvSpPr>
          <p:cNvPr id="6" name="Text 4"/>
          <p:cNvSpPr/>
          <p:nvPr/>
        </p:nvSpPr>
        <p:spPr>
          <a:xfrm>
            <a:off x="2905698" y="680610"/>
            <a:ext cx="6380590" cy="452112"/>
          </a:xfrm>
          <a:prstGeom prst="rect">
            <a:avLst/>
          </a:prstGeom>
          <a:noFill/>
          <a:ln/>
        </p:spPr>
        <p:txBody>
          <a:bodyPr wrap="square" lIns="0" tIns="0" rIns="0" bIns="0" rtlCol="0" anchor="t">
            <a:normAutofit/>
          </a:bodyPr>
          <a:lstStyle/>
          <a:p>
            <a:pPr algn="ctr" indent="0" marL="0">
              <a:lnSpc>
                <a:spcPts val="3360"/>
              </a:lnSpc>
              <a:buNone/>
            </a:pPr>
            <a:r>
              <a:rPr lang="en-US" sz="2800" b="1" spc="-50" kern="0" dirty="0">
                <a:solidFill>
                  <a:srgbClr val="6B4EFF"/>
                </a:solidFill>
                <a:latin typeface="Noto Sans KR" pitchFamily="34" charset="0"/>
                <a:ea typeface="Noto Sans KR" pitchFamily="34" charset="-122"/>
                <a:cs typeface="Noto Sans KR" pitchFamily="34" charset="-120"/>
              </a:rPr>
              <a:t>02</a:t>
            </a:r>
            <a:r>
              <a:rPr lang="en-US" sz="2800" b="1" spc="-50" kern="0" dirty="0">
                <a:solidFill>
                  <a:srgbClr val="1C1A24"/>
                </a:solidFill>
                <a:latin typeface="Noto Sans KR" pitchFamily="34" charset="0"/>
                <a:ea typeface="Noto Sans KR" pitchFamily="34" charset="-122"/>
                <a:cs typeface="Noto Sans KR" pitchFamily="34" charset="-120"/>
              </a:rPr>
              <a:t>  "그걸 기억했어?"라는 순간을 만듭니다</a:t>
            </a:r>
            <a:endParaRPr lang="en-US" sz="2800" dirty="0"/>
          </a:p>
        </p:txBody>
      </p:sp>
      <p:sp>
        <p:nvSpPr>
          <p:cNvPr id="7" name="Text 5"/>
          <p:cNvSpPr/>
          <p:nvPr/>
        </p:nvSpPr>
        <p:spPr>
          <a:xfrm>
            <a:off x="3820824" y="1183487"/>
            <a:ext cx="4550339" cy="292077"/>
          </a:xfrm>
          <a:prstGeom prst="rect">
            <a:avLst/>
          </a:prstGeom>
          <a:noFill/>
          <a:ln/>
        </p:spPr>
        <p:txBody>
          <a:bodyPr wrap="square" lIns="0" tIns="0" rIns="0" bIns="0" rtlCol="0" anchor="t">
            <a:normAutofit/>
          </a:bodyPr>
          <a:lstStyle/>
          <a:p>
            <a:pPr algn="ctr" indent="0" marL="0">
              <a:lnSpc>
                <a:spcPts val="2100"/>
              </a:lnSpc>
              <a:buNone/>
            </a:pPr>
            <a:r>
              <a:rPr lang="en-US" sz="1500" dirty="0">
                <a:solidFill>
                  <a:srgbClr val="8E88A0"/>
                </a:solidFill>
                <a:latin typeface="Noto Sans KR" pitchFamily="34" charset="0"/>
                <a:ea typeface="Noto Sans KR" pitchFamily="34" charset="-122"/>
                <a:cs typeface="Noto Sans KR" pitchFamily="34" charset="-120"/>
              </a:rPr>
              <a:t>찾는 시간은 줄이고 · </a:t>
            </a:r>
            <a:r>
              <a:rPr lang="en-US" sz="1500" b="1" dirty="0">
                <a:solidFill>
                  <a:srgbClr val="6B4EFF"/>
                </a:solidFill>
                <a:latin typeface="Noto Sans KR" pitchFamily="34" charset="0"/>
                <a:ea typeface="Noto Sans KR" pitchFamily="34" charset="-122"/>
                <a:cs typeface="Noto Sans KR" pitchFamily="34" charset="-120"/>
              </a:rPr>
              <a:t>기억은 되살리고</a:t>
            </a:r>
            <a:r>
              <a:rPr lang="en-US" sz="1500" dirty="0">
                <a:solidFill>
                  <a:srgbClr val="8E88A0"/>
                </a:solidFill>
                <a:latin typeface="Noto Sans KR" pitchFamily="34" charset="0"/>
                <a:ea typeface="Noto Sans KR" pitchFamily="34" charset="-122"/>
                <a:cs typeface="Noto Sans KR" pitchFamily="34" charset="-120"/>
              </a:rPr>
              <a:t> · 기록은 자산으로</a:t>
            </a:r>
            <a:endParaRPr lang="en-US" sz="1500" dirty="0"/>
          </a:p>
        </p:txBody>
      </p:sp>
      <p:sp>
        <p:nvSpPr>
          <p:cNvPr id="8" name="Shape 6"/>
          <p:cNvSpPr/>
          <p:nvPr/>
        </p:nvSpPr>
        <p:spPr>
          <a:xfrm>
            <a:off x="815984" y="1681897"/>
            <a:ext cx="4057622" cy="3168650"/>
          </a:xfrm>
          <a:prstGeom prst="roundRect">
            <a:avLst>
              <a:gd name="adj" fmla="val 5511"/>
            </a:avLst>
          </a:prstGeom>
          <a:solidFill>
            <a:srgbClr val="F4F1FA"/>
          </a:solidFill>
          <a:ln w="6350">
            <a:solidFill>
              <a:srgbClr val="E4DDF7"/>
            </a:solidFill>
            <a:prstDash val="solid"/>
          </a:ln>
        </p:spPr>
      </p:sp>
      <p:sp>
        <p:nvSpPr>
          <p:cNvPr id="9" name="Shape 7"/>
          <p:cNvSpPr/>
          <p:nvPr/>
        </p:nvSpPr>
        <p:spPr>
          <a:xfrm>
            <a:off x="1096760" y="1965173"/>
            <a:ext cx="684324" cy="290661"/>
          </a:xfrm>
          <a:prstGeom prst="roundRect">
            <a:avLst>
              <a:gd name="adj" fmla="val 50000"/>
            </a:avLst>
          </a:prstGeom>
          <a:solidFill>
            <a:srgbClr val="E6E1F0"/>
          </a:solidFill>
          <a:ln/>
        </p:spPr>
      </p:sp>
      <p:sp>
        <p:nvSpPr>
          <p:cNvPr id="10" name="Text 8"/>
          <p:cNvSpPr/>
          <p:nvPr/>
        </p:nvSpPr>
        <p:spPr>
          <a:xfrm>
            <a:off x="1236460" y="2003273"/>
            <a:ext cx="455724" cy="239861"/>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5B5866"/>
                </a:solidFill>
                <a:latin typeface="Noto Sans KR" pitchFamily="34" charset="0"/>
                <a:ea typeface="Noto Sans KR" pitchFamily="34" charset="-122"/>
                <a:cs typeface="Noto Sans KR" pitchFamily="34" charset="-120"/>
              </a:rPr>
              <a:t>NOW</a:t>
            </a:r>
            <a:endParaRPr lang="en-US" sz="1300" dirty="0"/>
          </a:p>
        </p:txBody>
      </p:sp>
      <p:sp>
        <p:nvSpPr>
          <p:cNvPr id="11" name="Text 9"/>
          <p:cNvSpPr/>
          <p:nvPr/>
        </p:nvSpPr>
        <p:spPr>
          <a:xfrm>
            <a:off x="1096760" y="2382819"/>
            <a:ext cx="1172900" cy="977900"/>
          </a:xfrm>
          <a:prstGeom prst="rect">
            <a:avLst/>
          </a:prstGeom>
          <a:noFill/>
          <a:ln/>
        </p:spPr>
        <p:txBody>
          <a:bodyPr wrap="square" lIns="0" tIns="0" rIns="0" bIns="0" rtlCol="0" anchor="t">
            <a:normAutofit/>
          </a:bodyPr>
          <a:lstStyle/>
          <a:p>
            <a:pPr algn="l" indent="0" marL="0">
              <a:lnSpc>
                <a:spcPts val="7500"/>
              </a:lnSpc>
              <a:buNone/>
            </a:pPr>
            <a:r>
              <a:rPr lang="en-US" sz="7500" b="1" spc="-150" kern="0" dirty="0">
                <a:solidFill>
                  <a:srgbClr val="2B2640"/>
                </a:solidFill>
                <a:latin typeface="Noto Sans KR" pitchFamily="34" charset="0"/>
                <a:ea typeface="Noto Sans KR" pitchFamily="34" charset="-122"/>
                <a:cs typeface="Noto Sans KR" pitchFamily="34" charset="-120"/>
              </a:rPr>
              <a:t>33</a:t>
            </a:r>
            <a:endParaRPr lang="en-US" sz="7500" dirty="0"/>
          </a:p>
        </p:txBody>
      </p:sp>
      <p:sp>
        <p:nvSpPr>
          <p:cNvPr id="12" name="Text 10"/>
          <p:cNvSpPr/>
          <p:nvPr/>
        </p:nvSpPr>
        <p:spPr>
          <a:xfrm>
            <a:off x="2256905" y="2917317"/>
            <a:ext cx="421907" cy="406429"/>
          </a:xfrm>
          <a:prstGeom prst="rect">
            <a:avLst/>
          </a:prstGeom>
          <a:noFill/>
          <a:ln/>
        </p:spPr>
        <p:txBody>
          <a:bodyPr wrap="square" lIns="0" tIns="0" rIns="0" bIns="0" rtlCol="0" anchor="t">
            <a:normAutofit/>
          </a:bodyPr>
          <a:lstStyle/>
          <a:p>
            <a:pPr algn="l" indent="0" marL="0">
              <a:lnSpc>
                <a:spcPts val="3000"/>
              </a:lnSpc>
              <a:buNone/>
            </a:pPr>
            <a:r>
              <a:rPr lang="en-US" sz="3000" b="1" dirty="0">
                <a:solidFill>
                  <a:srgbClr val="2B2640"/>
                </a:solidFill>
                <a:latin typeface="Noto Sans KR" pitchFamily="34" charset="0"/>
                <a:ea typeface="Noto Sans KR" pitchFamily="34" charset="-122"/>
                <a:cs typeface="Noto Sans KR" pitchFamily="34" charset="-120"/>
              </a:rPr>
              <a:t>%</a:t>
            </a:r>
            <a:endParaRPr lang="en-US" sz="3000" dirty="0"/>
          </a:p>
        </p:txBody>
      </p:sp>
      <p:sp>
        <p:nvSpPr>
          <p:cNvPr id="13" name="Text 11"/>
          <p:cNvSpPr/>
          <p:nvPr/>
        </p:nvSpPr>
        <p:spPr>
          <a:xfrm>
            <a:off x="1096760" y="3462306"/>
            <a:ext cx="3600951" cy="1130369"/>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E4A57"/>
                </a:solidFill>
                <a:latin typeface="Noto Sans KR" pitchFamily="34" charset="0"/>
                <a:ea typeface="Noto Sans KR" pitchFamily="34" charset="-122"/>
                <a:cs typeface="Noto Sans KR" pitchFamily="34" charset="-120"/>
              </a:rPr>
              <a:t>사용자의 </a:t>
            </a:r>
            <a:r>
              <a:rPr lang="en-US" sz="1500" b="1" dirty="0">
                <a:solidFill>
                  <a:srgbClr val="4E4A57"/>
                </a:solidFill>
                <a:latin typeface="Noto Sans KR" pitchFamily="34" charset="0"/>
                <a:ea typeface="Noto Sans KR" pitchFamily="34" charset="-122"/>
                <a:cs typeface="Noto Sans KR" pitchFamily="34" charset="-120"/>
              </a:rPr>
              <a:t>33%</a:t>
            </a:r>
            <a:r>
              <a:rPr lang="en-US" sz="1500" dirty="0">
                <a:solidFill>
                  <a:srgbClr val="4E4A57"/>
                </a:solidFill>
                <a:latin typeface="Noto Sans KR" pitchFamily="34" charset="0"/>
                <a:ea typeface="Noto Sans KR" pitchFamily="34" charset="-122"/>
                <a:cs typeface="Noto Sans KR" pitchFamily="34" charset="-120"/>
              </a:rPr>
              <a:t>가</a:t>
            </a:r>
            <a:endParaRPr lang="en-US" sz="1500" dirty="0"/>
          </a:p>
          <a:p>
            <a:pPr algn="l" indent="0" marL="0">
              <a:lnSpc>
                <a:spcPts val="2175"/>
              </a:lnSpc>
              <a:buNone/>
            </a:pPr>
            <a:r>
              <a:rPr lang="en-US" sz="1500" dirty="0">
                <a:solidFill>
                  <a:srgbClr val="4E4A57"/>
                </a:solidFill>
                <a:latin typeface="Noto Sans KR" pitchFamily="34" charset="0"/>
                <a:ea typeface="Noto Sans KR" pitchFamily="34" charset="-122"/>
                <a:cs typeface="Noto Sans KR" pitchFamily="34" charset="-120"/>
              </a:rPr>
              <a:t>"언젠가 필요할까봐" 캡처나</a:t>
            </a:r>
            <a:endParaRPr lang="en-US" sz="1500" dirty="0"/>
          </a:p>
          <a:p>
            <a:pPr algn="l" indent="0" marL="0">
              <a:lnSpc>
                <a:spcPts val="2175"/>
              </a:lnSpc>
              <a:buNone/>
            </a:pPr>
            <a:r>
              <a:rPr lang="en-US" sz="1500" dirty="0">
                <a:solidFill>
                  <a:srgbClr val="4E4A57"/>
                </a:solidFill>
                <a:latin typeface="Noto Sans KR" pitchFamily="34" charset="0"/>
                <a:ea typeface="Noto Sans KR" pitchFamily="34" charset="-122"/>
                <a:cs typeface="Noto Sans KR" pitchFamily="34" charset="-120"/>
              </a:rPr>
              <a:t>메모를 해두지만, 단 한 번도</a:t>
            </a:r>
            <a:endParaRPr lang="en-US" sz="1500" dirty="0"/>
          </a:p>
          <a:p>
            <a:pPr algn="l" indent="0" marL="0">
              <a:lnSpc>
                <a:spcPts val="2175"/>
              </a:lnSpc>
              <a:buNone/>
            </a:pPr>
            <a:r>
              <a:rPr lang="en-US" sz="1500" dirty="0">
                <a:solidFill>
                  <a:srgbClr val="4E4A57"/>
                </a:solidFill>
                <a:latin typeface="Noto Sans KR" pitchFamily="34" charset="0"/>
                <a:ea typeface="Noto Sans KR" pitchFamily="34" charset="-122"/>
                <a:cs typeface="Noto Sans KR" pitchFamily="34" charset="-120"/>
              </a:rPr>
              <a:t>열어보지 않고 방치</a:t>
            </a:r>
            <a:endParaRPr lang="en-US" sz="1500" dirty="0"/>
          </a:p>
        </p:txBody>
      </p:sp>
      <p:pic>
        <p:nvPicPr>
          <p:cNvPr id="14" name="Image 0" descr="preencoded.png">    </p:cNvPr>
          <p:cNvPicPr>
            <a:picLocks noChangeAspect="1"/>
          </p:cNvPicPr>
          <p:nvPr/>
        </p:nvPicPr>
        <p:blipFill>
          <a:blip r:embed="rId1"/>
          <a:srcRect l="-3" r="-3" t="0" b="0"/>
          <a:stretch/>
        </p:blipFill>
        <p:spPr>
          <a:xfrm>
            <a:off x="5054517" y="3063004"/>
            <a:ext cx="304794" cy="406369"/>
          </a:xfrm>
          <a:prstGeom prst="rect">
            <a:avLst/>
          </a:prstGeom>
        </p:spPr>
      </p:pic>
      <p:sp>
        <p:nvSpPr>
          <p:cNvPr id="15" name="Shape 12"/>
          <p:cNvSpPr/>
          <p:nvPr/>
        </p:nvSpPr>
        <p:spPr>
          <a:xfrm>
            <a:off x="5543399" y="1685072"/>
            <a:ext cx="5829429" cy="3162300"/>
          </a:xfrm>
          <a:prstGeom prst="roundRect">
            <a:avLst>
              <a:gd name="adj" fmla="val 5422"/>
            </a:avLst>
          </a:prstGeom>
          <a:gradFill rotWithShape="1">
            <a:gsLst>
              <a:gs pos="0">
                <a:srgbClr val="FFFFFF"/>
              </a:gs>
              <a:gs pos="100000">
                <a:srgbClr val="F6F2FF"/>
              </a:gs>
            </a:gsLst>
            <a:lin ang="1800000" scaled="0"/>
          </a:gradFill>
          <a:ln w="12700">
            <a:solidFill>
              <a:srgbClr val="8B6BFF"/>
            </a:solidFill>
            <a:prstDash val="solid"/>
          </a:ln>
          <a:effectLst>
            <a:outerShdw sx="100000" sy="100000" kx="0" ky="0" algn="bl" rotWithShape="0" blurRad="317500" dist="127000" dir="5400000">
              <a:srgbClr val="6B4EFF">
                <a:alpha val="14000"/>
              </a:srgbClr>
            </a:outerShdw>
          </a:effectLst>
        </p:spPr>
      </p:sp>
      <p:sp>
        <p:nvSpPr>
          <p:cNvPr id="16" name="Shape 13"/>
          <p:cNvSpPr/>
          <p:nvPr/>
        </p:nvSpPr>
        <p:spPr>
          <a:xfrm>
            <a:off x="5825568" y="2254120"/>
            <a:ext cx="894682" cy="290661"/>
          </a:xfrm>
          <a:prstGeom prst="roundRect">
            <a:avLst>
              <a:gd name="adj" fmla="val 50000"/>
            </a:avLst>
          </a:prstGeom>
          <a:solidFill>
            <a:srgbClr val="6B4EFF"/>
          </a:solidFill>
          <a:ln/>
        </p:spPr>
      </p:sp>
      <p:sp>
        <p:nvSpPr>
          <p:cNvPr id="17" name="Text 14"/>
          <p:cNvSpPr/>
          <p:nvPr/>
        </p:nvSpPr>
        <p:spPr>
          <a:xfrm>
            <a:off x="5965268" y="2292220"/>
            <a:ext cx="666082" cy="239861"/>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FFFFF"/>
                </a:solidFill>
                <a:latin typeface="Noto Sans KR" pitchFamily="34" charset="0"/>
                <a:ea typeface="Noto Sans KR" pitchFamily="34" charset="-122"/>
                <a:cs typeface="Noto Sans KR" pitchFamily="34" charset="-120"/>
              </a:rPr>
              <a:t>IMPACT</a:t>
            </a:r>
            <a:endParaRPr lang="en-US" sz="1300" dirty="0"/>
          </a:p>
        </p:txBody>
      </p:sp>
      <p:sp>
        <p:nvSpPr>
          <p:cNvPr id="18" name="Shape 15"/>
          <p:cNvSpPr/>
          <p:nvPr/>
        </p:nvSpPr>
        <p:spPr>
          <a:xfrm>
            <a:off x="5825568" y="2697178"/>
            <a:ext cx="279383" cy="279383"/>
          </a:xfrm>
          <a:prstGeom prst="roundRect">
            <a:avLst>
              <a:gd name="adj" fmla="val 50000"/>
            </a:avLst>
          </a:prstGeom>
          <a:solidFill>
            <a:srgbClr val="EDE7FF"/>
          </a:solidFill>
          <a:ln/>
        </p:spPr>
      </p:sp>
      <p:pic>
        <p:nvPicPr>
          <p:cNvPr id="19" name="Image 1" descr="Check">    </p:cNvPr>
          <p:cNvPicPr>
            <a:picLocks noChangeAspect="1"/>
          </p:cNvPicPr>
          <p:nvPr/>
        </p:nvPicPr>
        <p:blipFill>
          <a:blip r:embed="rId2"/>
          <a:srcRect l="0" r="0" t="0" b="0"/>
          <a:stretch/>
        </p:blipFill>
        <p:spPr>
          <a:xfrm>
            <a:off x="5882744" y="2754353"/>
            <a:ext cx="165031" cy="165031"/>
          </a:xfrm>
          <a:prstGeom prst="rect">
            <a:avLst/>
          </a:prstGeom>
        </p:spPr>
      </p:pic>
      <p:sp>
        <p:nvSpPr>
          <p:cNvPr id="20" name="Text 16"/>
          <p:cNvSpPr/>
          <p:nvPr/>
        </p:nvSpPr>
        <p:spPr>
          <a:xfrm>
            <a:off x="6219231" y="2697178"/>
            <a:ext cx="5017569" cy="882607"/>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2B2640"/>
                </a:solidFill>
                <a:latin typeface="Noto Sans KR" pitchFamily="34" charset="0"/>
                <a:ea typeface="Noto Sans KR" pitchFamily="34" charset="-122"/>
                <a:cs typeface="Noto Sans KR" pitchFamily="34" charset="-120"/>
              </a:rPr>
              <a:t>엄마가 먹고 싶다던 무화과시루가,</a:t>
            </a:r>
            <a:endParaRPr lang="en-US" sz="1500" dirty="0"/>
          </a:p>
          <a:p>
            <a:pPr algn="l" indent="0" marL="0">
              <a:lnSpc>
                <a:spcPts val="2250"/>
              </a:lnSpc>
              <a:buNone/>
            </a:pPr>
            <a:r>
              <a:rPr lang="en-US" sz="1500" dirty="0">
                <a:solidFill>
                  <a:srgbClr val="2B2640"/>
                </a:solidFill>
                <a:latin typeface="Noto Sans KR" pitchFamily="34" charset="0"/>
                <a:ea typeface="Noto Sans KR" pitchFamily="34" charset="-122"/>
                <a:cs typeface="Noto Sans KR" pitchFamily="34" charset="-120"/>
              </a:rPr>
              <a:t>친구가 좋아하는 소비뇽 블랑이</a:t>
            </a:r>
            <a:endParaRPr lang="en-US" sz="1500" dirty="0"/>
          </a:p>
          <a:p>
            <a:pPr algn="l" indent="0" marL="0">
              <a:lnSpc>
                <a:spcPts val="2250"/>
              </a:lnSpc>
              <a:buNone/>
            </a:pPr>
            <a:r>
              <a:rPr lang="en-US" sz="1500" b="1" dirty="0">
                <a:solidFill>
                  <a:srgbClr val="6B4EFF"/>
                </a:solidFill>
                <a:latin typeface="Noto Sans KR" pitchFamily="34" charset="0"/>
                <a:ea typeface="Noto Sans KR" pitchFamily="34" charset="-122"/>
                <a:cs typeface="Noto Sans KR" pitchFamily="34" charset="-120"/>
              </a:rPr>
              <a:t>필요한 순간에 떠오릅니다.</a:t>
            </a:r>
            <a:endParaRPr lang="en-US" sz="1500" dirty="0"/>
          </a:p>
        </p:txBody>
      </p:sp>
      <p:sp>
        <p:nvSpPr>
          <p:cNvPr id="21" name="Shape 17"/>
          <p:cNvSpPr/>
          <p:nvPr/>
        </p:nvSpPr>
        <p:spPr>
          <a:xfrm>
            <a:off x="5825568" y="3706781"/>
            <a:ext cx="279383" cy="279383"/>
          </a:xfrm>
          <a:prstGeom prst="roundRect">
            <a:avLst>
              <a:gd name="adj" fmla="val 50000"/>
            </a:avLst>
          </a:prstGeom>
          <a:solidFill>
            <a:srgbClr val="EDE7FF"/>
          </a:solidFill>
          <a:ln/>
        </p:spPr>
      </p:sp>
      <p:pic>
        <p:nvPicPr>
          <p:cNvPr id="22" name="Image 2" descr="Check">    </p:cNvPr>
          <p:cNvPicPr>
            <a:picLocks noChangeAspect="1"/>
          </p:cNvPicPr>
          <p:nvPr/>
        </p:nvPicPr>
        <p:blipFill>
          <a:blip r:embed="rId3"/>
          <a:srcRect l="0" r="0" t="0" b="0"/>
          <a:stretch/>
        </p:blipFill>
        <p:spPr>
          <a:xfrm>
            <a:off x="5882744" y="3763959"/>
            <a:ext cx="165031" cy="165031"/>
          </a:xfrm>
          <a:prstGeom prst="rect">
            <a:avLst/>
          </a:prstGeom>
        </p:spPr>
      </p:pic>
      <p:sp>
        <p:nvSpPr>
          <p:cNvPr id="23" name="Text 18"/>
          <p:cNvSpPr/>
          <p:nvPr/>
        </p:nvSpPr>
        <p:spPr>
          <a:xfrm>
            <a:off x="6219231" y="3706781"/>
            <a:ext cx="5017569" cy="596871"/>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2B2640"/>
                </a:solidFill>
                <a:latin typeface="Noto Sans KR" pitchFamily="34" charset="0"/>
                <a:ea typeface="Noto Sans KR" pitchFamily="34" charset="-122"/>
                <a:cs typeface="Noto Sans KR" pitchFamily="34" charset="-120"/>
              </a:rPr>
              <a:t>갤럭시는 정보를 저장하는 도구를 넘어,</a:t>
            </a:r>
            <a:endParaRPr lang="en-US" sz="1500" dirty="0"/>
          </a:p>
          <a:p>
            <a:pPr algn="l" indent="0" marL="0">
              <a:lnSpc>
                <a:spcPts val="2250"/>
              </a:lnSpc>
              <a:buNone/>
            </a:pPr>
            <a:r>
              <a:rPr lang="en-US" sz="1500" b="1" dirty="0">
                <a:solidFill>
                  <a:srgbClr val="6B4EFF"/>
                </a:solidFill>
                <a:latin typeface="Noto Sans KR" pitchFamily="34" charset="0"/>
                <a:ea typeface="Noto Sans KR" pitchFamily="34" charset="-122"/>
                <a:cs typeface="Noto Sans KR" pitchFamily="34" charset="-120"/>
              </a:rPr>
              <a:t>내가 놓쳤던 기억까지 챙겨주는 일상의 조력자</a:t>
            </a:r>
            <a:r>
              <a:rPr lang="en-US" sz="1500" dirty="0">
                <a:solidFill>
                  <a:srgbClr val="2B2640"/>
                </a:solidFill>
                <a:latin typeface="Noto Sans KR" pitchFamily="34" charset="0"/>
                <a:ea typeface="Noto Sans KR" pitchFamily="34" charset="-122"/>
                <a:cs typeface="Noto Sans KR" pitchFamily="34" charset="-120"/>
              </a:rPr>
              <a:t>가 됩니다.</a:t>
            </a:r>
            <a:endParaRPr lang="en-US" sz="1500" dirty="0"/>
          </a:p>
        </p:txBody>
      </p:sp>
      <p:sp>
        <p:nvSpPr>
          <p:cNvPr id="24" name="Shape 19"/>
          <p:cNvSpPr/>
          <p:nvPr/>
        </p:nvSpPr>
        <p:spPr>
          <a:xfrm>
            <a:off x="2969279" y="5088632"/>
            <a:ext cx="2045839" cy="389029"/>
          </a:xfrm>
          <a:prstGeom prst="roundRect">
            <a:avLst>
              <a:gd name="adj" fmla="val 50000"/>
            </a:avLst>
          </a:prstGeom>
          <a:solidFill>
            <a:srgbClr val="FFFFFF"/>
          </a:solidFill>
          <a:ln w="12700">
            <a:solidFill>
              <a:srgbClr val="CFC3FF"/>
            </a:solidFill>
            <a:prstDash val="solid"/>
          </a:ln>
        </p:spPr>
      </p:sp>
      <p:sp>
        <p:nvSpPr>
          <p:cNvPr id="25" name="Text 20"/>
          <p:cNvSpPr/>
          <p:nvPr/>
        </p:nvSpPr>
        <p:spPr>
          <a:xfrm>
            <a:off x="3137166" y="5167619"/>
            <a:ext cx="1710066" cy="256455"/>
          </a:xfrm>
          <a:prstGeom prst="rect">
            <a:avLst/>
          </a:prstGeom>
          <a:noFill/>
          <a:ln/>
        </p:spPr>
        <p:txBody>
          <a:bodyPr wrap="none" lIns="0" tIns="0" rIns="0" bIns="0" rtlCol="0" anchor="t">
            <a:normAutofit/>
          </a:bodyPr>
          <a:lstStyle/>
          <a:p>
            <a:pPr algn="ctr" indent="0" marL="0">
              <a:lnSpc>
                <a:spcPts val="1820"/>
              </a:lnSpc>
              <a:buNone/>
            </a:pPr>
            <a:r>
              <a:rPr lang="en-US" sz="1400" b="1" dirty="0">
                <a:solidFill>
                  <a:srgbClr val="6B4EFF"/>
                </a:solidFill>
                <a:latin typeface="Noto Sans KR" pitchFamily="34" charset="0"/>
                <a:ea typeface="Noto Sans KR" pitchFamily="34" charset="-122"/>
                <a:cs typeface="Noto Sans KR" pitchFamily="34" charset="-120"/>
              </a:rPr>
              <a:t>#잊었던 약속의 재발견</a:t>
            </a:r>
            <a:endParaRPr lang="en-US" sz="1400" dirty="0"/>
          </a:p>
        </p:txBody>
      </p:sp>
      <p:sp>
        <p:nvSpPr>
          <p:cNvPr id="26" name="Shape 21"/>
          <p:cNvSpPr/>
          <p:nvPr/>
        </p:nvSpPr>
        <p:spPr>
          <a:xfrm>
            <a:off x="5154804" y="5088632"/>
            <a:ext cx="2045839" cy="389029"/>
          </a:xfrm>
          <a:prstGeom prst="roundRect">
            <a:avLst>
              <a:gd name="adj" fmla="val 50000"/>
            </a:avLst>
          </a:prstGeom>
          <a:solidFill>
            <a:srgbClr val="FFFFFF"/>
          </a:solidFill>
          <a:ln w="12700">
            <a:solidFill>
              <a:srgbClr val="CFC3FF"/>
            </a:solidFill>
            <a:prstDash val="solid"/>
          </a:ln>
        </p:spPr>
      </p:sp>
      <p:sp>
        <p:nvSpPr>
          <p:cNvPr id="27" name="Text 22"/>
          <p:cNvSpPr/>
          <p:nvPr/>
        </p:nvSpPr>
        <p:spPr>
          <a:xfrm>
            <a:off x="5322691" y="5167619"/>
            <a:ext cx="1710066" cy="256455"/>
          </a:xfrm>
          <a:prstGeom prst="rect">
            <a:avLst/>
          </a:prstGeom>
          <a:noFill/>
          <a:ln/>
        </p:spPr>
        <p:txBody>
          <a:bodyPr wrap="none" lIns="0" tIns="0" rIns="0" bIns="0" rtlCol="0" anchor="t">
            <a:normAutofit/>
          </a:bodyPr>
          <a:lstStyle/>
          <a:p>
            <a:pPr algn="ctr" indent="0" marL="0">
              <a:lnSpc>
                <a:spcPts val="1820"/>
              </a:lnSpc>
              <a:buNone/>
            </a:pPr>
            <a:r>
              <a:rPr lang="en-US" sz="1400" b="1" dirty="0">
                <a:solidFill>
                  <a:srgbClr val="6B4EFF"/>
                </a:solidFill>
                <a:latin typeface="Noto Sans KR" pitchFamily="34" charset="0"/>
                <a:ea typeface="Noto Sans KR" pitchFamily="34" charset="-122"/>
                <a:cs typeface="Noto Sans KR" pitchFamily="34" charset="-120"/>
              </a:rPr>
              <a:t>#디테일이 만드는 감동</a:t>
            </a:r>
            <a:endParaRPr lang="en-US" sz="1400" dirty="0"/>
          </a:p>
        </p:txBody>
      </p:sp>
      <p:sp>
        <p:nvSpPr>
          <p:cNvPr id="28" name="Shape 23"/>
          <p:cNvSpPr/>
          <p:nvPr/>
        </p:nvSpPr>
        <p:spPr>
          <a:xfrm>
            <a:off x="7340329" y="5088632"/>
            <a:ext cx="1882307" cy="389029"/>
          </a:xfrm>
          <a:prstGeom prst="roundRect">
            <a:avLst>
              <a:gd name="adj" fmla="val 50000"/>
            </a:avLst>
          </a:prstGeom>
          <a:solidFill>
            <a:srgbClr val="FFFFFF"/>
          </a:solidFill>
          <a:ln w="12700">
            <a:solidFill>
              <a:srgbClr val="CFC3FF"/>
            </a:solidFill>
            <a:prstDash val="solid"/>
          </a:ln>
        </p:spPr>
      </p:sp>
      <p:sp>
        <p:nvSpPr>
          <p:cNvPr id="29" name="Text 24"/>
          <p:cNvSpPr/>
          <p:nvPr/>
        </p:nvSpPr>
        <p:spPr>
          <a:xfrm>
            <a:off x="7508215" y="5167619"/>
            <a:ext cx="1546533" cy="256455"/>
          </a:xfrm>
          <a:prstGeom prst="rect">
            <a:avLst/>
          </a:prstGeom>
          <a:noFill/>
          <a:ln/>
        </p:spPr>
        <p:txBody>
          <a:bodyPr wrap="none" lIns="0" tIns="0" rIns="0" bIns="0" rtlCol="0" anchor="t">
            <a:normAutofit/>
          </a:bodyPr>
          <a:lstStyle/>
          <a:p>
            <a:pPr algn="ctr" indent="0" marL="0">
              <a:lnSpc>
                <a:spcPts val="1820"/>
              </a:lnSpc>
              <a:buNone/>
            </a:pPr>
            <a:r>
              <a:rPr lang="en-US" sz="1400" b="1" dirty="0">
                <a:solidFill>
                  <a:srgbClr val="6B4EFF"/>
                </a:solidFill>
                <a:latin typeface="Noto Sans KR" pitchFamily="34" charset="0"/>
                <a:ea typeface="Noto Sans KR" pitchFamily="34" charset="-122"/>
                <a:cs typeface="Noto Sans KR" pitchFamily="34" charset="-120"/>
              </a:rPr>
              <a:t>#브랜드 친밀감 증가</a:t>
            </a:r>
            <a:endParaRPr lang="en-US" sz="1400" dirty="0"/>
          </a:p>
        </p:txBody>
      </p:sp>
      <p:sp>
        <p:nvSpPr>
          <p:cNvPr id="30" name="Text 25"/>
          <p:cNvSpPr/>
          <p:nvPr/>
        </p:nvSpPr>
        <p:spPr>
          <a:xfrm>
            <a:off x="812737" y="6304316"/>
            <a:ext cx="8502650" cy="223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E88A0"/>
                </a:solidFill>
                <a:latin typeface="Noto Sans KR" pitchFamily="34" charset="0"/>
                <a:ea typeface="Noto Sans KR" pitchFamily="34" charset="-122"/>
                <a:cs typeface="Noto Sans KR" pitchFamily="34" charset="-120"/>
              </a:rPr>
              <a:t>* 출처: Compare and Recycle, "Digital Declutter Statistics 2025: Smartphone habits" (2025. 12)</a:t>
            </a:r>
            <a:endParaRPr lang="en-US" sz="1200" dirty="0"/>
          </a:p>
        </p:txBody>
      </p:sp>
      <p:sp>
        <p:nvSpPr>
          <p:cNvPr id="31" name="Text 26"/>
          <p:cNvSpPr/>
          <p:nvPr/>
        </p:nvSpPr>
        <p:spPr>
          <a:xfrm>
            <a:off x="10058449" y="6304316"/>
            <a:ext cx="1320800" cy="223481"/>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8E88A0"/>
                </a:solidFill>
                <a:latin typeface="Noto Sans KR" pitchFamily="34" charset="0"/>
                <a:ea typeface="Noto Sans KR" pitchFamily="34" charset="-122"/>
                <a:cs typeface="Noto Sans KR" pitchFamily="34" charset="-120"/>
              </a:rPr>
              <a:t>12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CFF"/>
        </a:solidFill>
      </p:bgPr>
    </p:bg>
    <p:spTree>
      <p:nvGrpSpPr>
        <p:cNvPr id="1" name=""/>
        <p:cNvGrpSpPr/>
        <p:nvPr/>
      </p:nvGrpSpPr>
      <p:grpSpPr>
        <a:xfrm>
          <a:off x="0" y="0"/>
          <a:ext cx="0" cy="0"/>
          <a:chOff x="0" y="0"/>
          <a:chExt cx="0" cy="0"/>
        </a:xfrm>
      </p:grpSpPr>
      <p:sp>
        <p:nvSpPr>
          <p:cNvPr id="2" name="Shape 0"/>
          <p:cNvSpPr/>
          <p:nvPr/>
        </p:nvSpPr>
        <p:spPr>
          <a:xfrm>
            <a:off x="0" y="0"/>
            <a:ext cx="12191986" cy="6857943"/>
          </a:xfrm>
          <a:prstGeom prst="rect">
            <a:avLst/>
          </a:prstGeom>
          <a:gradFill rotWithShape="1">
            <a:gsLst>
              <a:gs pos="0">
                <a:srgbClr val="FDFCFF"/>
              </a:gs>
              <a:gs pos="50000">
                <a:srgbClr val="F8F5FF"/>
              </a:gs>
              <a:gs pos="100000">
                <a:srgbClr val="F2EDFF"/>
              </a:gs>
            </a:gsLst>
            <a:lin ang="4200000" scaled="0"/>
          </a:gradFill>
          <a:ln/>
        </p:spPr>
      </p:sp>
      <p:sp>
        <p:nvSpPr>
          <p:cNvPr id="3" name="Shape 1"/>
          <p:cNvSpPr/>
          <p:nvPr/>
        </p:nvSpPr>
        <p:spPr>
          <a:xfrm>
            <a:off x="6095957" y="0"/>
            <a:ext cx="6095957" cy="4825957"/>
          </a:xfrm>
          <a:prstGeom prst="rect">
            <a:avLst/>
          </a:prstGeom>
          <a:gradFill rotWithShape="1">
            <a:gsLst>
              <a:gs pos="0">
                <a:srgbClr val="FFE282">
                  <a:alpha val="42000"/>
                </a:srgbClr>
              </a:gs>
              <a:gs pos="30000">
                <a:srgbClr val="FFEEB9">
                  <a:alpha val="18000"/>
                </a:srgbClr>
              </a:gs>
              <a:gs pos="60000">
                <a:srgbClr val="FFFAEB">
                  <a:alpha val="0"/>
                </a:srgbClr>
              </a:gs>
            </a:gsLst>
            <a:path path="circle">
              <a:fillToRect l="85000" t="8000" r="15000" b="92000"/>
            </a:path>
          </a:gradFill>
          <a:ln/>
        </p:spPr>
      </p:sp>
      <p:sp>
        <p:nvSpPr>
          <p:cNvPr id="4" name="Shape 2"/>
          <p:cNvSpPr/>
          <p:nvPr/>
        </p:nvSpPr>
        <p:spPr>
          <a:xfrm>
            <a:off x="0" y="3555960"/>
            <a:ext cx="5715000" cy="3301986"/>
          </a:xfrm>
          <a:prstGeom prst="rect">
            <a:avLst/>
          </a:prstGeom>
          <a:gradFill rotWithShape="1">
            <a:gsLst>
              <a:gs pos="0">
                <a:srgbClr val="BAA6FF">
                  <a:alpha val="34000"/>
                </a:srgbClr>
              </a:gs>
              <a:gs pos="40000">
                <a:srgbClr val="DCD0FF">
                  <a:alpha val="16000"/>
                </a:srgbClr>
              </a:gs>
              <a:gs pos="72000">
                <a:srgbClr val="F8F5FF">
                  <a:alpha val="0"/>
                </a:srgbClr>
              </a:gs>
            </a:gsLst>
            <a:path path="circle">
              <a:fillToRect l="12000" t="88000" r="88000" b="12000"/>
            </a:path>
          </a:gradFill>
          <a:ln/>
        </p:spPr>
      </p:sp>
      <p:sp>
        <p:nvSpPr>
          <p:cNvPr id="5" name="Text 3"/>
          <p:cNvSpPr/>
          <p:nvPr/>
        </p:nvSpPr>
        <p:spPr>
          <a:xfrm>
            <a:off x="5164583" y="406369"/>
            <a:ext cx="1862748" cy="223481"/>
          </a:xfrm>
          <a:prstGeom prst="rect">
            <a:avLst/>
          </a:prstGeom>
          <a:noFill/>
          <a:ln/>
        </p:spPr>
        <p:txBody>
          <a:bodyPr wrap="square" lIns="0" tIns="0" rIns="0" bIns="0" rtlCol="0" anchor="t">
            <a:normAutofit/>
          </a:bodyPr>
          <a:lstStyle/>
          <a:p>
            <a:pPr algn="ctr" indent="0" marL="0">
              <a:lnSpc>
                <a:spcPts val="1560"/>
              </a:lnSpc>
              <a:buNone/>
            </a:pPr>
            <a:r>
              <a:rPr lang="en-US" sz="1200" b="1" spc="50" kern="0" dirty="0">
                <a:solidFill>
                  <a:srgbClr val="6B4EFF"/>
                </a:solidFill>
                <a:latin typeface="Noto Sans KR" pitchFamily="34" charset="0"/>
                <a:ea typeface="Noto Sans KR" pitchFamily="34" charset="-122"/>
                <a:cs typeface="Noto Sans KR" pitchFamily="34" charset="-120"/>
              </a:rPr>
              <a:t>13 / EXPECTED IMPACT</a:t>
            </a:r>
            <a:endParaRPr lang="en-US" sz="1200" dirty="0"/>
          </a:p>
        </p:txBody>
      </p:sp>
      <p:sp>
        <p:nvSpPr>
          <p:cNvPr id="6" name="Text 4"/>
          <p:cNvSpPr/>
          <p:nvPr/>
        </p:nvSpPr>
        <p:spPr>
          <a:xfrm>
            <a:off x="2378032" y="680613"/>
            <a:ext cx="7435923" cy="452112"/>
          </a:xfrm>
          <a:prstGeom prst="rect">
            <a:avLst/>
          </a:prstGeom>
          <a:noFill/>
          <a:ln/>
        </p:spPr>
        <p:txBody>
          <a:bodyPr wrap="square" lIns="0" tIns="0" rIns="0" bIns="0" rtlCol="0" anchor="t">
            <a:normAutofit/>
          </a:bodyPr>
          <a:lstStyle/>
          <a:p>
            <a:pPr algn="ctr" indent="0" marL="0">
              <a:lnSpc>
                <a:spcPts val="3360"/>
              </a:lnSpc>
              <a:buNone/>
            </a:pPr>
            <a:r>
              <a:rPr lang="en-US" sz="2800" b="1" spc="-50" kern="0" dirty="0">
                <a:solidFill>
                  <a:srgbClr val="6B4EFF"/>
                </a:solidFill>
                <a:latin typeface="Noto Sans KR" pitchFamily="34" charset="0"/>
                <a:ea typeface="Noto Sans KR" pitchFamily="34" charset="-122"/>
                <a:cs typeface="Noto Sans KR" pitchFamily="34" charset="-120"/>
              </a:rPr>
              <a:t>03</a:t>
            </a:r>
            <a:r>
              <a:rPr lang="en-US" sz="2800" b="1" spc="-50" kern="0" dirty="0">
                <a:solidFill>
                  <a:srgbClr val="1C1A24"/>
                </a:solidFill>
                <a:latin typeface="Noto Sans KR" pitchFamily="34" charset="0"/>
                <a:ea typeface="Noto Sans KR" pitchFamily="34" charset="-122"/>
                <a:cs typeface="Noto Sans KR" pitchFamily="34" charset="-120"/>
              </a:rPr>
              <a:t>  쌓인 기록이, 갤럭시를 계속 쓰는 이유가 됩니다</a:t>
            </a:r>
            <a:endParaRPr lang="en-US" sz="2800" dirty="0"/>
          </a:p>
        </p:txBody>
      </p:sp>
      <p:sp>
        <p:nvSpPr>
          <p:cNvPr id="7" name="Text 5"/>
          <p:cNvSpPr/>
          <p:nvPr/>
        </p:nvSpPr>
        <p:spPr>
          <a:xfrm>
            <a:off x="3820825" y="1183487"/>
            <a:ext cx="4550265" cy="292077"/>
          </a:xfrm>
          <a:prstGeom prst="rect">
            <a:avLst/>
          </a:prstGeom>
          <a:noFill/>
          <a:ln/>
        </p:spPr>
        <p:txBody>
          <a:bodyPr wrap="square" lIns="0" tIns="0" rIns="0" bIns="0" rtlCol="0" anchor="t">
            <a:normAutofit/>
          </a:bodyPr>
          <a:lstStyle/>
          <a:p>
            <a:pPr algn="ctr" indent="0" marL="0">
              <a:lnSpc>
                <a:spcPts val="2100"/>
              </a:lnSpc>
              <a:buNone/>
            </a:pPr>
            <a:r>
              <a:rPr lang="en-US" sz="1500" dirty="0">
                <a:solidFill>
                  <a:srgbClr val="8E88A0"/>
                </a:solidFill>
                <a:latin typeface="Noto Sans KR" pitchFamily="34" charset="0"/>
                <a:ea typeface="Noto Sans KR" pitchFamily="34" charset="-122"/>
                <a:cs typeface="Noto Sans KR" pitchFamily="34" charset="-120"/>
              </a:rPr>
              <a:t>찾는 시간은 줄이고 · 기억은 되살리고 · </a:t>
            </a:r>
            <a:r>
              <a:rPr lang="en-US" sz="1500" b="1" dirty="0">
                <a:solidFill>
                  <a:srgbClr val="6B4EFF"/>
                </a:solidFill>
                <a:latin typeface="Noto Sans KR" pitchFamily="34" charset="0"/>
                <a:ea typeface="Noto Sans KR" pitchFamily="34" charset="-122"/>
                <a:cs typeface="Noto Sans KR" pitchFamily="34" charset="-120"/>
              </a:rPr>
              <a:t>기록은 자산으로</a:t>
            </a:r>
            <a:endParaRPr lang="en-US" sz="1500" dirty="0"/>
          </a:p>
        </p:txBody>
      </p:sp>
      <p:sp>
        <p:nvSpPr>
          <p:cNvPr id="8" name="Shape 6"/>
          <p:cNvSpPr/>
          <p:nvPr/>
        </p:nvSpPr>
        <p:spPr>
          <a:xfrm>
            <a:off x="815984" y="1681900"/>
            <a:ext cx="4057622" cy="3168650"/>
          </a:xfrm>
          <a:prstGeom prst="roundRect">
            <a:avLst>
              <a:gd name="adj" fmla="val 5511"/>
            </a:avLst>
          </a:prstGeom>
          <a:solidFill>
            <a:srgbClr val="F4F1FA"/>
          </a:solidFill>
          <a:ln w="6350">
            <a:solidFill>
              <a:srgbClr val="E4DDF7"/>
            </a:solidFill>
            <a:prstDash val="solid"/>
          </a:ln>
        </p:spPr>
      </p:sp>
      <p:sp>
        <p:nvSpPr>
          <p:cNvPr id="9" name="Shape 7"/>
          <p:cNvSpPr/>
          <p:nvPr/>
        </p:nvSpPr>
        <p:spPr>
          <a:xfrm>
            <a:off x="1096760" y="2257264"/>
            <a:ext cx="684324" cy="290661"/>
          </a:xfrm>
          <a:prstGeom prst="roundRect">
            <a:avLst>
              <a:gd name="adj" fmla="val 50000"/>
            </a:avLst>
          </a:prstGeom>
          <a:solidFill>
            <a:srgbClr val="E6E1F0"/>
          </a:solidFill>
          <a:ln/>
        </p:spPr>
      </p:sp>
      <p:sp>
        <p:nvSpPr>
          <p:cNvPr id="10" name="Text 8"/>
          <p:cNvSpPr/>
          <p:nvPr/>
        </p:nvSpPr>
        <p:spPr>
          <a:xfrm>
            <a:off x="1236460" y="2295364"/>
            <a:ext cx="455724" cy="239861"/>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5B5866"/>
                </a:solidFill>
                <a:latin typeface="Noto Sans KR" pitchFamily="34" charset="0"/>
                <a:ea typeface="Noto Sans KR" pitchFamily="34" charset="-122"/>
                <a:cs typeface="Noto Sans KR" pitchFamily="34" charset="-120"/>
              </a:rPr>
              <a:t>NOW</a:t>
            </a:r>
            <a:endParaRPr lang="en-US" sz="1300" dirty="0"/>
          </a:p>
        </p:txBody>
      </p:sp>
      <p:sp>
        <p:nvSpPr>
          <p:cNvPr id="11" name="Text 9"/>
          <p:cNvSpPr/>
          <p:nvPr/>
        </p:nvSpPr>
        <p:spPr>
          <a:xfrm>
            <a:off x="1096760" y="2674910"/>
            <a:ext cx="878955" cy="736634"/>
          </a:xfrm>
          <a:prstGeom prst="rect">
            <a:avLst/>
          </a:prstGeom>
          <a:noFill/>
          <a:ln/>
        </p:spPr>
        <p:txBody>
          <a:bodyPr wrap="square" lIns="0" tIns="0" rIns="0" bIns="0" rtlCol="0" anchor="t">
            <a:normAutofit/>
          </a:bodyPr>
          <a:lstStyle/>
          <a:p>
            <a:pPr algn="l" indent="0" marL="0">
              <a:lnSpc>
                <a:spcPts val="5600"/>
              </a:lnSpc>
              <a:buNone/>
            </a:pPr>
            <a:r>
              <a:rPr lang="en-US" sz="5600" b="1" spc="-150" kern="0" dirty="0">
                <a:solidFill>
                  <a:srgbClr val="2B2640"/>
                </a:solidFill>
                <a:latin typeface="Noto Sans KR" pitchFamily="34" charset="0"/>
                <a:ea typeface="Noto Sans KR" pitchFamily="34" charset="-122"/>
                <a:cs typeface="Noto Sans KR" pitchFamily="34" charset="-120"/>
              </a:rPr>
              <a:t>41</a:t>
            </a:r>
            <a:endParaRPr lang="en-US" sz="5600" dirty="0"/>
          </a:p>
        </p:txBody>
      </p:sp>
      <p:sp>
        <p:nvSpPr>
          <p:cNvPr id="12" name="Text 10"/>
          <p:cNvSpPr/>
          <p:nvPr/>
        </p:nvSpPr>
        <p:spPr>
          <a:xfrm>
            <a:off x="1962961" y="3054083"/>
            <a:ext cx="331254" cy="330194"/>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2B2640"/>
                </a:solidFill>
                <a:latin typeface="Noto Sans KR" pitchFamily="34" charset="0"/>
                <a:ea typeface="Noto Sans KR" pitchFamily="34" charset="-122"/>
                <a:cs typeface="Noto Sans KR" pitchFamily="34" charset="-120"/>
              </a:rPr>
              <a:t>개</a:t>
            </a:r>
            <a:endParaRPr lang="en-US" sz="2400" dirty="0"/>
          </a:p>
        </p:txBody>
      </p:sp>
      <p:sp>
        <p:nvSpPr>
          <p:cNvPr id="13" name="Text 11"/>
          <p:cNvSpPr/>
          <p:nvPr/>
        </p:nvSpPr>
        <p:spPr>
          <a:xfrm>
            <a:off x="2480969" y="2754285"/>
            <a:ext cx="2175216" cy="577884"/>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E4A57"/>
                </a:solidFill>
                <a:latin typeface="Noto Sans KR" pitchFamily="34" charset="0"/>
                <a:ea typeface="Noto Sans KR" pitchFamily="34" charset="-122"/>
                <a:cs typeface="Noto Sans KR" pitchFamily="34" charset="-120"/>
              </a:rPr>
              <a:t>스마트폰 사용자가</a:t>
            </a:r>
            <a:endParaRPr lang="en-US" sz="1500" dirty="0"/>
          </a:p>
          <a:p>
            <a:pPr algn="l" indent="0" marL="0">
              <a:lnSpc>
                <a:spcPts val="2175"/>
              </a:lnSpc>
              <a:buNone/>
            </a:pPr>
            <a:r>
              <a:rPr lang="en-US" sz="1500" dirty="0">
                <a:solidFill>
                  <a:srgbClr val="4E4A57"/>
                </a:solidFill>
                <a:latin typeface="Noto Sans KR" pitchFamily="34" charset="0"/>
                <a:ea typeface="Noto Sans KR" pitchFamily="34" charset="-122"/>
                <a:cs typeface="Noto Sans KR" pitchFamily="34" charset="-120"/>
              </a:rPr>
              <a:t>월평균 사용하는 앱 수¹</a:t>
            </a:r>
            <a:endParaRPr lang="en-US" sz="1500" dirty="0"/>
          </a:p>
        </p:txBody>
      </p:sp>
      <p:sp>
        <p:nvSpPr>
          <p:cNvPr id="14" name="Text 12"/>
          <p:cNvSpPr/>
          <p:nvPr/>
        </p:nvSpPr>
        <p:spPr>
          <a:xfrm>
            <a:off x="1096760" y="3563882"/>
            <a:ext cx="878955" cy="736634"/>
          </a:xfrm>
          <a:prstGeom prst="rect">
            <a:avLst/>
          </a:prstGeom>
          <a:noFill/>
          <a:ln/>
        </p:spPr>
        <p:txBody>
          <a:bodyPr wrap="square" lIns="0" tIns="0" rIns="0" bIns="0" rtlCol="0" anchor="t">
            <a:normAutofit/>
          </a:bodyPr>
          <a:lstStyle/>
          <a:p>
            <a:pPr algn="l" indent="0" marL="0">
              <a:lnSpc>
                <a:spcPts val="5600"/>
              </a:lnSpc>
              <a:buNone/>
            </a:pPr>
            <a:r>
              <a:rPr lang="en-US" sz="5600" b="1" spc="-150" kern="0" dirty="0">
                <a:solidFill>
                  <a:srgbClr val="2B2640"/>
                </a:solidFill>
                <a:latin typeface="Noto Sans KR" pitchFamily="34" charset="0"/>
                <a:ea typeface="Noto Sans KR" pitchFamily="34" charset="-122"/>
                <a:cs typeface="Noto Sans KR" pitchFamily="34" charset="-120"/>
              </a:rPr>
              <a:t>69</a:t>
            </a:r>
            <a:endParaRPr lang="en-US" sz="5600" dirty="0"/>
          </a:p>
        </p:txBody>
      </p:sp>
      <p:sp>
        <p:nvSpPr>
          <p:cNvPr id="15" name="Text 13"/>
          <p:cNvSpPr/>
          <p:nvPr/>
        </p:nvSpPr>
        <p:spPr>
          <a:xfrm>
            <a:off x="1962961" y="3943055"/>
            <a:ext cx="347742" cy="330194"/>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2B2640"/>
                </a:solidFill>
                <a:latin typeface="Noto Sans KR" pitchFamily="34" charset="0"/>
                <a:ea typeface="Noto Sans KR" pitchFamily="34" charset="-122"/>
                <a:cs typeface="Noto Sans KR" pitchFamily="34" charset="-120"/>
              </a:rPr>
              <a:t>%</a:t>
            </a:r>
            <a:endParaRPr lang="en-US" sz="2400" dirty="0"/>
          </a:p>
        </p:txBody>
      </p:sp>
      <p:sp>
        <p:nvSpPr>
          <p:cNvPr id="16" name="Text 14"/>
          <p:cNvSpPr/>
          <p:nvPr/>
        </p:nvSpPr>
        <p:spPr>
          <a:xfrm>
            <a:off x="2480969" y="3643257"/>
            <a:ext cx="2175216" cy="577884"/>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E4A57"/>
                </a:solidFill>
                <a:latin typeface="Noto Sans KR" pitchFamily="34" charset="0"/>
                <a:ea typeface="Noto Sans KR" pitchFamily="34" charset="-122"/>
                <a:cs typeface="Noto Sans KR" pitchFamily="34" charset="-120"/>
              </a:rPr>
              <a:t>기기 내 데이터를 지우지</a:t>
            </a:r>
            <a:endParaRPr lang="en-US" sz="1500" dirty="0"/>
          </a:p>
          <a:p>
            <a:pPr algn="l" indent="0" marL="0">
              <a:lnSpc>
                <a:spcPts val="2175"/>
              </a:lnSpc>
              <a:buNone/>
            </a:pPr>
            <a:r>
              <a:rPr lang="en-US" sz="1500" dirty="0">
                <a:solidFill>
                  <a:srgbClr val="4E4A57"/>
                </a:solidFill>
                <a:latin typeface="Noto Sans KR" pitchFamily="34" charset="0"/>
                <a:ea typeface="Noto Sans KR" pitchFamily="34" charset="-122"/>
                <a:cs typeface="Noto Sans KR" pitchFamily="34" charset="-120"/>
              </a:rPr>
              <a:t>않고 그대로 쓰는 사용자²</a:t>
            </a:r>
            <a:endParaRPr lang="en-US" sz="1500" dirty="0"/>
          </a:p>
        </p:txBody>
      </p:sp>
      <p:pic>
        <p:nvPicPr>
          <p:cNvPr id="17" name="Image 0" descr="preencoded.png">    </p:cNvPr>
          <p:cNvPicPr>
            <a:picLocks noChangeAspect="1"/>
          </p:cNvPicPr>
          <p:nvPr/>
        </p:nvPicPr>
        <p:blipFill>
          <a:blip r:embed="rId1"/>
          <a:srcRect l="-3" r="-3" t="0" b="0"/>
          <a:stretch/>
        </p:blipFill>
        <p:spPr>
          <a:xfrm>
            <a:off x="5054517" y="3063004"/>
            <a:ext cx="304794" cy="406369"/>
          </a:xfrm>
          <a:prstGeom prst="rect">
            <a:avLst/>
          </a:prstGeom>
        </p:spPr>
      </p:pic>
      <p:sp>
        <p:nvSpPr>
          <p:cNvPr id="18" name="Shape 15"/>
          <p:cNvSpPr/>
          <p:nvPr/>
        </p:nvSpPr>
        <p:spPr>
          <a:xfrm>
            <a:off x="5543399" y="1685075"/>
            <a:ext cx="5829429" cy="3162300"/>
          </a:xfrm>
          <a:prstGeom prst="roundRect">
            <a:avLst>
              <a:gd name="adj" fmla="val 5422"/>
            </a:avLst>
          </a:prstGeom>
          <a:gradFill rotWithShape="1">
            <a:gsLst>
              <a:gs pos="0">
                <a:srgbClr val="FFFFFF"/>
              </a:gs>
              <a:gs pos="100000">
                <a:srgbClr val="F6F2FF"/>
              </a:gs>
            </a:gsLst>
            <a:lin ang="1800000" scaled="0"/>
          </a:gradFill>
          <a:ln w="12700">
            <a:solidFill>
              <a:srgbClr val="8B6BFF"/>
            </a:solidFill>
            <a:prstDash val="solid"/>
          </a:ln>
          <a:effectLst>
            <a:outerShdw sx="100000" sy="100000" kx="0" ky="0" algn="bl" rotWithShape="0" blurRad="317500" dist="127000" dir="5400000">
              <a:srgbClr val="6B4EFF">
                <a:alpha val="14000"/>
              </a:srgbClr>
            </a:outerShdw>
          </a:effectLst>
        </p:spPr>
      </p:sp>
      <p:sp>
        <p:nvSpPr>
          <p:cNvPr id="19" name="Shape 16"/>
          <p:cNvSpPr/>
          <p:nvPr/>
        </p:nvSpPr>
        <p:spPr>
          <a:xfrm>
            <a:off x="5825568" y="2254123"/>
            <a:ext cx="894682" cy="290661"/>
          </a:xfrm>
          <a:prstGeom prst="roundRect">
            <a:avLst>
              <a:gd name="adj" fmla="val 50000"/>
            </a:avLst>
          </a:prstGeom>
          <a:solidFill>
            <a:srgbClr val="6B4EFF"/>
          </a:solidFill>
          <a:ln/>
        </p:spPr>
      </p:sp>
      <p:sp>
        <p:nvSpPr>
          <p:cNvPr id="20" name="Text 17"/>
          <p:cNvSpPr/>
          <p:nvPr/>
        </p:nvSpPr>
        <p:spPr>
          <a:xfrm>
            <a:off x="5965268" y="2292223"/>
            <a:ext cx="666082" cy="239861"/>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FFFFF"/>
                </a:solidFill>
                <a:latin typeface="Noto Sans KR" pitchFamily="34" charset="0"/>
                <a:ea typeface="Noto Sans KR" pitchFamily="34" charset="-122"/>
                <a:cs typeface="Noto Sans KR" pitchFamily="34" charset="-120"/>
              </a:rPr>
              <a:t>IMPACT</a:t>
            </a:r>
            <a:endParaRPr lang="en-US" sz="1300" dirty="0"/>
          </a:p>
        </p:txBody>
      </p:sp>
      <p:sp>
        <p:nvSpPr>
          <p:cNvPr id="21" name="Shape 18"/>
          <p:cNvSpPr/>
          <p:nvPr/>
        </p:nvSpPr>
        <p:spPr>
          <a:xfrm>
            <a:off x="5825568" y="2697181"/>
            <a:ext cx="279383" cy="279383"/>
          </a:xfrm>
          <a:prstGeom prst="roundRect">
            <a:avLst>
              <a:gd name="adj" fmla="val 50000"/>
            </a:avLst>
          </a:prstGeom>
          <a:solidFill>
            <a:srgbClr val="EDE7FF"/>
          </a:solidFill>
          <a:ln/>
        </p:spPr>
      </p:sp>
      <p:pic>
        <p:nvPicPr>
          <p:cNvPr id="22" name="Image 1" descr="Check">    </p:cNvPr>
          <p:cNvPicPr>
            <a:picLocks noChangeAspect="1"/>
          </p:cNvPicPr>
          <p:nvPr/>
        </p:nvPicPr>
        <p:blipFill>
          <a:blip r:embed="rId2"/>
          <a:srcRect l="0" r="0" t="0" b="0"/>
          <a:stretch/>
        </p:blipFill>
        <p:spPr>
          <a:xfrm>
            <a:off x="5882744" y="2754356"/>
            <a:ext cx="165031" cy="165031"/>
          </a:xfrm>
          <a:prstGeom prst="rect">
            <a:avLst/>
          </a:prstGeom>
        </p:spPr>
      </p:pic>
      <p:sp>
        <p:nvSpPr>
          <p:cNvPr id="23" name="Text 19"/>
          <p:cNvSpPr/>
          <p:nvPr/>
        </p:nvSpPr>
        <p:spPr>
          <a:xfrm>
            <a:off x="6219231" y="2697181"/>
            <a:ext cx="5017569" cy="596871"/>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2B2640"/>
                </a:solidFill>
                <a:latin typeface="Noto Sans KR" pitchFamily="34" charset="0"/>
                <a:ea typeface="Noto Sans KR" pitchFamily="34" charset="-122"/>
                <a:cs typeface="Noto Sans KR" pitchFamily="34" charset="-120"/>
              </a:rPr>
              <a:t>쌓아둔 대화·사진·메모가</a:t>
            </a:r>
            <a:endParaRPr lang="en-US" sz="1500" dirty="0"/>
          </a:p>
          <a:p>
            <a:pPr algn="l" indent="0" marL="0">
              <a:lnSpc>
                <a:spcPts val="2250"/>
              </a:lnSpc>
              <a:buNone/>
            </a:pPr>
            <a:r>
              <a:rPr lang="en-US" sz="1500" b="1" dirty="0">
                <a:solidFill>
                  <a:srgbClr val="6B4EFF"/>
                </a:solidFill>
                <a:latin typeface="Noto Sans KR" pitchFamily="34" charset="0"/>
                <a:ea typeface="Noto Sans KR" pitchFamily="34" charset="-122"/>
                <a:cs typeface="Noto Sans KR" pitchFamily="34" charset="-120"/>
              </a:rPr>
              <a:t>오늘의 검색과 답장에 쓰이는 자산</a:t>
            </a:r>
            <a:r>
              <a:rPr lang="en-US" sz="1500" dirty="0">
                <a:solidFill>
                  <a:srgbClr val="2B2640"/>
                </a:solidFill>
                <a:latin typeface="Noto Sans KR" pitchFamily="34" charset="0"/>
                <a:ea typeface="Noto Sans KR" pitchFamily="34" charset="-122"/>
                <a:cs typeface="Noto Sans KR" pitchFamily="34" charset="-120"/>
              </a:rPr>
              <a:t>이 됩니다.</a:t>
            </a:r>
            <a:endParaRPr lang="en-US" sz="1500" dirty="0"/>
          </a:p>
        </p:txBody>
      </p:sp>
      <p:sp>
        <p:nvSpPr>
          <p:cNvPr id="24" name="Shape 20"/>
          <p:cNvSpPr/>
          <p:nvPr/>
        </p:nvSpPr>
        <p:spPr>
          <a:xfrm>
            <a:off x="5825568" y="3421050"/>
            <a:ext cx="279383" cy="279383"/>
          </a:xfrm>
          <a:prstGeom prst="roundRect">
            <a:avLst>
              <a:gd name="adj" fmla="val 50000"/>
            </a:avLst>
          </a:prstGeom>
          <a:solidFill>
            <a:srgbClr val="EDE7FF"/>
          </a:solidFill>
          <a:ln/>
        </p:spPr>
      </p:sp>
      <p:pic>
        <p:nvPicPr>
          <p:cNvPr id="25" name="Image 2" descr="Check">    </p:cNvPr>
          <p:cNvPicPr>
            <a:picLocks noChangeAspect="1"/>
          </p:cNvPicPr>
          <p:nvPr/>
        </p:nvPicPr>
        <p:blipFill>
          <a:blip r:embed="rId3"/>
          <a:srcRect l="0" r="0" t="0" b="0"/>
          <a:stretch/>
        </p:blipFill>
        <p:spPr>
          <a:xfrm>
            <a:off x="5882744" y="3478225"/>
            <a:ext cx="165031" cy="165031"/>
          </a:xfrm>
          <a:prstGeom prst="rect">
            <a:avLst/>
          </a:prstGeom>
        </p:spPr>
      </p:pic>
      <p:sp>
        <p:nvSpPr>
          <p:cNvPr id="26" name="Text 21"/>
          <p:cNvSpPr/>
          <p:nvPr/>
        </p:nvSpPr>
        <p:spPr>
          <a:xfrm>
            <a:off x="6219231" y="3421050"/>
            <a:ext cx="5017569" cy="882607"/>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2B2640"/>
                </a:solidFill>
                <a:latin typeface="Noto Sans KR" pitchFamily="34" charset="0"/>
                <a:ea typeface="Noto Sans KR" pitchFamily="34" charset="-122"/>
                <a:cs typeface="Noto Sans KR" pitchFamily="34" charset="-120"/>
              </a:rPr>
              <a:t>오래 쌓아 둔 기록에서 반복해서 도움을 받으며,</a:t>
            </a:r>
            <a:endParaRPr lang="en-US" sz="1500" dirty="0"/>
          </a:p>
          <a:p>
            <a:pPr algn="l" indent="0" marL="0">
              <a:lnSpc>
                <a:spcPts val="2250"/>
              </a:lnSpc>
              <a:buNone/>
            </a:pPr>
            <a:r>
              <a:rPr lang="en-US" sz="1500" dirty="0">
                <a:solidFill>
                  <a:srgbClr val="2B2640"/>
                </a:solidFill>
                <a:latin typeface="Noto Sans KR" pitchFamily="34" charset="0"/>
                <a:ea typeface="Noto Sans KR" pitchFamily="34" charset="-122"/>
                <a:cs typeface="Noto Sans KR" pitchFamily="34" charset="-120"/>
              </a:rPr>
              <a:t>사용자는 </a:t>
            </a:r>
            <a:r>
              <a:rPr lang="en-US" sz="1500" b="1" dirty="0">
                <a:solidFill>
                  <a:srgbClr val="6B4EFF"/>
                </a:solidFill>
                <a:latin typeface="Noto Sans KR" pitchFamily="34" charset="0"/>
                <a:ea typeface="Noto Sans KR" pitchFamily="34" charset="-122"/>
                <a:cs typeface="Noto Sans KR" pitchFamily="34" charset="-120"/>
              </a:rPr>
              <a:t>'내 기록을 잘 활용해 주는 갤럭시'</a:t>
            </a:r>
            <a:r>
              <a:rPr lang="en-US" sz="1500" dirty="0">
                <a:solidFill>
                  <a:srgbClr val="2B2640"/>
                </a:solidFill>
                <a:latin typeface="Noto Sans KR" pitchFamily="34" charset="0"/>
                <a:ea typeface="Noto Sans KR" pitchFamily="34" charset="-122"/>
                <a:cs typeface="Noto Sans KR" pitchFamily="34" charset="-120"/>
              </a:rPr>
              <a:t>의</a:t>
            </a:r>
            <a:endParaRPr lang="en-US" sz="1500" dirty="0"/>
          </a:p>
          <a:p>
            <a:pPr algn="l" indent="0" marL="0">
              <a:lnSpc>
                <a:spcPts val="2250"/>
              </a:lnSpc>
              <a:buNone/>
            </a:pPr>
            <a:r>
              <a:rPr lang="en-US" sz="1500" dirty="0">
                <a:solidFill>
                  <a:srgbClr val="2B2640"/>
                </a:solidFill>
                <a:latin typeface="Noto Sans KR" pitchFamily="34" charset="0"/>
                <a:ea typeface="Noto Sans KR" pitchFamily="34" charset="-122"/>
                <a:cs typeface="Noto Sans KR" pitchFamily="34" charset="-120"/>
              </a:rPr>
              <a:t>가치를 경험합니다.</a:t>
            </a:r>
            <a:endParaRPr lang="en-US" sz="1500" dirty="0"/>
          </a:p>
        </p:txBody>
      </p:sp>
      <p:sp>
        <p:nvSpPr>
          <p:cNvPr id="27" name="Shape 22"/>
          <p:cNvSpPr/>
          <p:nvPr/>
        </p:nvSpPr>
        <p:spPr>
          <a:xfrm>
            <a:off x="2854642" y="5088635"/>
            <a:ext cx="1514698" cy="389029"/>
          </a:xfrm>
          <a:prstGeom prst="roundRect">
            <a:avLst>
              <a:gd name="adj" fmla="val 50000"/>
            </a:avLst>
          </a:prstGeom>
          <a:solidFill>
            <a:srgbClr val="FFFFFF"/>
          </a:solidFill>
          <a:ln w="12700">
            <a:solidFill>
              <a:srgbClr val="CFC3FF"/>
            </a:solidFill>
            <a:prstDash val="solid"/>
          </a:ln>
        </p:spPr>
      </p:sp>
      <p:sp>
        <p:nvSpPr>
          <p:cNvPr id="28" name="Text 23"/>
          <p:cNvSpPr/>
          <p:nvPr/>
        </p:nvSpPr>
        <p:spPr>
          <a:xfrm>
            <a:off x="3022529" y="5167622"/>
            <a:ext cx="1178924" cy="256455"/>
          </a:xfrm>
          <a:prstGeom prst="rect">
            <a:avLst/>
          </a:prstGeom>
          <a:noFill/>
          <a:ln/>
        </p:spPr>
        <p:txBody>
          <a:bodyPr wrap="none" lIns="0" tIns="0" rIns="0" bIns="0" rtlCol="0" anchor="t">
            <a:normAutofit/>
          </a:bodyPr>
          <a:lstStyle/>
          <a:p>
            <a:pPr algn="ctr" indent="0" marL="0">
              <a:lnSpc>
                <a:spcPts val="1820"/>
              </a:lnSpc>
              <a:buNone/>
            </a:pPr>
            <a:r>
              <a:rPr lang="en-US" sz="1400" b="1" dirty="0">
                <a:solidFill>
                  <a:srgbClr val="6B4EFF"/>
                </a:solidFill>
                <a:latin typeface="Noto Sans KR" pitchFamily="34" charset="0"/>
                <a:ea typeface="Noto Sans KR" pitchFamily="34" charset="-122"/>
                <a:cs typeface="Noto Sans KR" pitchFamily="34" charset="-120"/>
              </a:rPr>
              <a:t>#기록의 자산화</a:t>
            </a:r>
            <a:endParaRPr lang="en-US" sz="1400" dirty="0"/>
          </a:p>
        </p:txBody>
      </p:sp>
      <p:sp>
        <p:nvSpPr>
          <p:cNvPr id="29" name="Shape 24"/>
          <p:cNvSpPr/>
          <p:nvPr/>
        </p:nvSpPr>
        <p:spPr>
          <a:xfrm>
            <a:off x="4509026" y="5088635"/>
            <a:ext cx="1718774" cy="389029"/>
          </a:xfrm>
          <a:prstGeom prst="roundRect">
            <a:avLst>
              <a:gd name="adj" fmla="val 50000"/>
            </a:avLst>
          </a:prstGeom>
          <a:solidFill>
            <a:srgbClr val="FFFFFF"/>
          </a:solidFill>
          <a:ln w="12700">
            <a:solidFill>
              <a:srgbClr val="CFC3FF"/>
            </a:solidFill>
            <a:prstDash val="solid"/>
          </a:ln>
        </p:spPr>
      </p:sp>
      <p:sp>
        <p:nvSpPr>
          <p:cNvPr id="30" name="Text 25"/>
          <p:cNvSpPr/>
          <p:nvPr/>
        </p:nvSpPr>
        <p:spPr>
          <a:xfrm>
            <a:off x="4676912" y="5167622"/>
            <a:ext cx="1383001" cy="256455"/>
          </a:xfrm>
          <a:prstGeom prst="rect">
            <a:avLst/>
          </a:prstGeom>
          <a:noFill/>
          <a:ln/>
        </p:spPr>
        <p:txBody>
          <a:bodyPr wrap="none" lIns="0" tIns="0" rIns="0" bIns="0" rtlCol="0" anchor="t">
            <a:normAutofit/>
          </a:bodyPr>
          <a:lstStyle/>
          <a:p>
            <a:pPr algn="ctr" indent="0" marL="0">
              <a:lnSpc>
                <a:spcPts val="1820"/>
              </a:lnSpc>
              <a:buNone/>
            </a:pPr>
            <a:r>
              <a:rPr lang="en-US" sz="1400" b="1" dirty="0">
                <a:solidFill>
                  <a:srgbClr val="6B4EFF"/>
                </a:solidFill>
                <a:latin typeface="Noto Sans KR" pitchFamily="34" charset="0"/>
                <a:ea typeface="Noto Sans KR" pitchFamily="34" charset="-122"/>
                <a:cs typeface="Noto Sans KR" pitchFamily="34" charset="-120"/>
              </a:rPr>
              <a:t>#개인화 경험 강화</a:t>
            </a:r>
            <a:endParaRPr lang="en-US" sz="1400" dirty="0"/>
          </a:p>
        </p:txBody>
      </p:sp>
      <p:sp>
        <p:nvSpPr>
          <p:cNvPr id="31" name="Shape 26"/>
          <p:cNvSpPr/>
          <p:nvPr/>
        </p:nvSpPr>
        <p:spPr>
          <a:xfrm>
            <a:off x="6367486" y="5088635"/>
            <a:ext cx="2969787" cy="389029"/>
          </a:xfrm>
          <a:prstGeom prst="roundRect">
            <a:avLst>
              <a:gd name="adj" fmla="val 50000"/>
            </a:avLst>
          </a:prstGeom>
          <a:solidFill>
            <a:srgbClr val="FFFFFF"/>
          </a:solidFill>
          <a:ln w="12700">
            <a:solidFill>
              <a:srgbClr val="CFC3FF"/>
            </a:solidFill>
            <a:prstDash val="solid"/>
          </a:ln>
        </p:spPr>
      </p:sp>
      <p:sp>
        <p:nvSpPr>
          <p:cNvPr id="32" name="Text 27"/>
          <p:cNvSpPr/>
          <p:nvPr/>
        </p:nvSpPr>
        <p:spPr>
          <a:xfrm>
            <a:off x="6522024" y="5167622"/>
            <a:ext cx="2660710" cy="256455"/>
          </a:xfrm>
          <a:prstGeom prst="rect">
            <a:avLst/>
          </a:prstGeom>
          <a:noFill/>
          <a:ln/>
        </p:spPr>
        <p:txBody>
          <a:bodyPr wrap="none" lIns="0" tIns="0" rIns="0" bIns="0" rtlCol="0" anchor="t">
            <a:normAutofit/>
          </a:bodyPr>
          <a:lstStyle/>
          <a:p>
            <a:pPr algn="ctr" indent="0" marL="0">
              <a:lnSpc>
                <a:spcPts val="1820"/>
              </a:lnSpc>
              <a:buNone/>
            </a:pPr>
            <a:r>
              <a:rPr lang="en-US" sz="1400" b="1" dirty="0">
                <a:solidFill>
                  <a:srgbClr val="6B4EFF"/>
                </a:solidFill>
                <a:latin typeface="Noto Sans KR" pitchFamily="34" charset="0"/>
                <a:ea typeface="Noto Sans KR" pitchFamily="34" charset="-122"/>
                <a:cs typeface="Noto Sans KR" pitchFamily="34" charset="-120"/>
              </a:rPr>
              <a:t>#갤럭시 지속 사용 및 Lock-in 효과</a:t>
            </a:r>
            <a:endParaRPr lang="en-US" sz="1400" dirty="0"/>
          </a:p>
        </p:txBody>
      </p:sp>
      <p:sp>
        <p:nvSpPr>
          <p:cNvPr id="33" name="Text 28"/>
          <p:cNvSpPr/>
          <p:nvPr/>
        </p:nvSpPr>
        <p:spPr>
          <a:xfrm>
            <a:off x="812737" y="6192537"/>
            <a:ext cx="9156700" cy="43683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8E88A0"/>
                </a:solidFill>
                <a:latin typeface="Noto Sans KR" pitchFamily="34" charset="0"/>
                <a:ea typeface="Noto Sans KR" pitchFamily="34" charset="-122"/>
                <a:cs typeface="Noto Sans KR" pitchFamily="34" charset="-120"/>
              </a:rPr>
              <a:t>* 출처: ¹ UK Ofcom(영국 정보통신청), "Online Nation 2025 Report" (2025. 12)</a:t>
            </a:r>
            <a:endParaRPr lang="en-US" sz="1200" dirty="0"/>
          </a:p>
          <a:p>
            <a:pPr algn="l" indent="0" marL="0">
              <a:lnSpc>
                <a:spcPts val="1620"/>
              </a:lnSpc>
              <a:buNone/>
            </a:pPr>
            <a:r>
              <a:rPr lang="en-US" sz="1200" dirty="0">
                <a:solidFill>
                  <a:srgbClr val="8E88A0"/>
                </a:solidFill>
                <a:latin typeface="Noto Sans KR" pitchFamily="34" charset="0"/>
                <a:ea typeface="Noto Sans KR" pitchFamily="34" charset="-122"/>
                <a:cs typeface="Noto Sans KR" pitchFamily="34" charset="-120"/>
              </a:rPr>
              <a:t>          ² Compare and Recycle, "Digital Declutter Statistics 2025: Smartphone habits" (2025. 12)</a:t>
            </a:r>
            <a:endParaRPr lang="en-US" sz="1200" dirty="0"/>
          </a:p>
        </p:txBody>
      </p:sp>
      <p:sp>
        <p:nvSpPr>
          <p:cNvPr id="34" name="Text 29"/>
          <p:cNvSpPr/>
          <p:nvPr/>
        </p:nvSpPr>
        <p:spPr>
          <a:xfrm>
            <a:off x="10058449" y="6304319"/>
            <a:ext cx="1320800" cy="223481"/>
          </a:xfrm>
          <a:prstGeom prst="rect">
            <a:avLst/>
          </a:prstGeom>
          <a:noFill/>
          <a:ln/>
        </p:spPr>
        <p:txBody>
          <a:bodyPr wrap="square" lIns="0" tIns="0" rIns="0" bIns="0" rtlCol="0" anchor="t">
            <a:normAutofit/>
          </a:bodyPr>
          <a:lstStyle/>
          <a:p>
            <a:pPr algn="r" indent="0" marL="0">
              <a:lnSpc>
                <a:spcPts val="1560"/>
              </a:lnSpc>
              <a:buNone/>
            </a:pPr>
            <a:r>
              <a:rPr lang="en-US" sz="1200" dirty="0">
                <a:solidFill>
                  <a:srgbClr val="8E88A0"/>
                </a:solidFill>
                <a:latin typeface="Noto Sans KR" pitchFamily="34" charset="0"/>
                <a:ea typeface="Noto Sans KR" pitchFamily="34" charset="-122"/>
                <a:cs typeface="Noto Sans KR" pitchFamily="34" charset="-120"/>
              </a:rPr>
              <a:t>13</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Weave 차별화 포인트</dc:title>
  <dc:subject>PptxGenJS Presentation</dc:subject>
  <dc:creator>PptxGenJS</dc:creator>
  <cp:lastModifiedBy>PptxGenJS</cp:lastModifiedBy>
  <cp:revision>1</cp:revision>
  <dcterms:created xsi:type="dcterms:W3CDTF">2026-09-25T07:38:33Z</dcterms:created>
  <dcterms:modified xsi:type="dcterms:W3CDTF">2026-09-25T07:38:33Z</dcterms:modified>
</cp:coreProperties>
</file>